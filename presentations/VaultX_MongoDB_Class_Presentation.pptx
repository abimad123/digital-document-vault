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aef283a1404cc5" /><Relationship Type="http://schemas.openxmlformats.org/officeDocument/2006/relationships/extended-properties" Target="/docProps/app.xml" Id="R14e2286458e44243" /><Relationship Type="http://schemas.openxmlformats.org/officeDocument/2006/relationships/officeDocument" Target="/ppt/presentation.xml" Id="Rd64b25a882f04f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7a5918f0c9405c"/>
  </p:sldMasterIdLst>
  <p:notesMasterIdLst>
    <p:notesMasterId xmlns:r="http://schemas.openxmlformats.org/officeDocument/2006/relationships" r:id="R2c86d5d9d1ea4a69"/>
  </p:notesMasterIdLst>
  <p:sldIdLst>
    <p:sldId xmlns:r="http://schemas.openxmlformats.org/officeDocument/2006/relationships" id="256" r:id="R07f745ed3ef04ecc"/>
    <p:sldId xmlns:r="http://schemas.openxmlformats.org/officeDocument/2006/relationships" id="257" r:id="R5cb746a829c74ad3"/>
    <p:sldId xmlns:r="http://schemas.openxmlformats.org/officeDocument/2006/relationships" id="258" r:id="Rdd60034e454545a4"/>
    <p:sldId xmlns:r="http://schemas.openxmlformats.org/officeDocument/2006/relationships" id="259" r:id="R79d68f1a32674cb1"/>
    <p:sldId xmlns:r="http://schemas.openxmlformats.org/officeDocument/2006/relationships" id="260" r:id="R1e89e6ab6a0e4b20"/>
    <p:sldId xmlns:r="http://schemas.openxmlformats.org/officeDocument/2006/relationships" id="261" r:id="Re8c186f0ba9d4cae"/>
    <p:sldId xmlns:r="http://schemas.openxmlformats.org/officeDocument/2006/relationships" id="262" r:id="R5aa4afaf44474979"/>
    <p:sldId xmlns:r="http://schemas.openxmlformats.org/officeDocument/2006/relationships" id="263" r:id="R0528b59c18ed4f62"/>
    <p:sldId xmlns:r="http://schemas.openxmlformats.org/officeDocument/2006/relationships" id="264" r:id="R8011afa323e0489c"/>
    <p:sldId xmlns:r="http://schemas.openxmlformats.org/officeDocument/2006/relationships" id="265" r:id="R069c3b99fe524693"/>
    <p:sldId xmlns:r="http://schemas.openxmlformats.org/officeDocument/2006/relationships" id="266" r:id="R41820771006944b5"/>
    <p:sldId xmlns:r="http://schemas.openxmlformats.org/officeDocument/2006/relationships" id="267" r:id="R1e73ff04d9eb49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41cfbd0821483b" /><Relationship Type="http://schemas.openxmlformats.org/officeDocument/2006/relationships/slideMaster" Target="/ppt/slideMasters/slideMaster1.xml" Id="Rb37a5918f0c9405c" /><Relationship Type="http://schemas.openxmlformats.org/officeDocument/2006/relationships/notesMaster" Target="/ppt/notesMasters/notesMaster1.xml" Id="R2c86d5d9d1ea4a69" /><Relationship Type="http://schemas.openxmlformats.org/officeDocument/2006/relationships/presProps" Target="/ppt/presProps.xml" Id="R0e1aff4db6e14c20" /><Relationship Type="http://schemas.openxmlformats.org/officeDocument/2006/relationships/tableStyles" Target="/ppt/tableStyles.xml" Id="Rbe84c1d25bf7494b" /><Relationship Type="http://schemas.openxmlformats.org/officeDocument/2006/relationships/slide" Target="/ppt/slides/slide1.xml" Id="R07f745ed3ef04ecc" /><Relationship Type="http://schemas.openxmlformats.org/officeDocument/2006/relationships/slide" Target="/ppt/slides/slide2.xml" Id="R5cb746a829c74ad3" /><Relationship Type="http://schemas.openxmlformats.org/officeDocument/2006/relationships/slide" Target="/ppt/slides/slide3.xml" Id="Rdd60034e454545a4" /><Relationship Type="http://schemas.openxmlformats.org/officeDocument/2006/relationships/slide" Target="/ppt/slides/slide4.xml" Id="R79d68f1a32674cb1" /><Relationship Type="http://schemas.openxmlformats.org/officeDocument/2006/relationships/slide" Target="/ppt/slides/slide5.xml" Id="R1e89e6ab6a0e4b20" /><Relationship Type="http://schemas.openxmlformats.org/officeDocument/2006/relationships/slide" Target="/ppt/slides/slide6.xml" Id="Re8c186f0ba9d4cae" /><Relationship Type="http://schemas.openxmlformats.org/officeDocument/2006/relationships/slide" Target="/ppt/slides/slide7.xml" Id="R5aa4afaf44474979" /><Relationship Type="http://schemas.openxmlformats.org/officeDocument/2006/relationships/slide" Target="/ppt/slides/slide8.xml" Id="R0528b59c18ed4f62" /><Relationship Type="http://schemas.openxmlformats.org/officeDocument/2006/relationships/slide" Target="/ppt/slides/slide9.xml" Id="R8011afa323e0489c" /><Relationship Type="http://schemas.openxmlformats.org/officeDocument/2006/relationships/slide" Target="/ppt/slides/slide10.xml" Id="R069c3b99fe524693" /><Relationship Type="http://schemas.openxmlformats.org/officeDocument/2006/relationships/slide" Target="/ppt/slides/slide11.xml" Id="R41820771006944b5" /><Relationship Type="http://schemas.openxmlformats.org/officeDocument/2006/relationships/slide" Target="/ppt/slides/slide12.xml" Id="R1e73ff04d9eb49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04787266e54f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280e191b864c4c" /><Relationship Type="http://schemas.openxmlformats.org/officeDocument/2006/relationships/notesMaster" Target="/ppt/notesMasters/notesMaster1.xml" Id="Rd1c2a40f73c141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d7dd9507b54782" /><Relationship Type="http://schemas.openxmlformats.org/officeDocument/2006/relationships/notesMaster" Target="/ppt/notesMasters/notesMaster1.xml" Id="R400065c1f01d45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4bb0c1becb43fe" /><Relationship Type="http://schemas.openxmlformats.org/officeDocument/2006/relationships/notesMaster" Target="/ppt/notesMasters/notesMaster1.xml" Id="R06c608decbe446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e0a2c46a304b1a" /><Relationship Type="http://schemas.openxmlformats.org/officeDocument/2006/relationships/notesMaster" Target="/ppt/notesMasters/notesMaster1.xml" Id="Rfd7425139d424b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dc326fc8df454f" /><Relationship Type="http://schemas.openxmlformats.org/officeDocument/2006/relationships/notesMaster" Target="/ppt/notesMasters/notesMaster1.xml" Id="R894edf99c1834e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4fbd2a5e5348bf" /><Relationship Type="http://schemas.openxmlformats.org/officeDocument/2006/relationships/notesMaster" Target="/ppt/notesMasters/notesMaster1.xml" Id="R2cfbcc01d3114d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1c7efa90834fb1" /><Relationship Type="http://schemas.openxmlformats.org/officeDocument/2006/relationships/notesMaster" Target="/ppt/notesMasters/notesMaster1.xml" Id="R2691677c37a24f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4b9fba568b4af2" /><Relationship Type="http://schemas.openxmlformats.org/officeDocument/2006/relationships/notesMaster" Target="/ppt/notesMasters/notesMaster1.xml" Id="Rba66910c790047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c50cb5b4c04bd1" /><Relationship Type="http://schemas.openxmlformats.org/officeDocument/2006/relationships/notesMaster" Target="/ppt/notesMasters/notesMaster1.xml" Id="R8b528b352fd046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0c9f1b244f48a1" /><Relationship Type="http://schemas.openxmlformats.org/officeDocument/2006/relationships/notesMaster" Target="/ppt/notesMasters/notesMaster1.xml" Id="R3778f57820964b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2d1369f3c04beb" /><Relationship Type="http://schemas.openxmlformats.org/officeDocument/2006/relationships/notesMaster" Target="/ppt/notesMasters/notesMaster1.xml" Id="R966c1ff8c0804a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a635fe613e45c1" /><Relationship Type="http://schemas.openxmlformats.org/officeDocument/2006/relationships/notesMaster" Target="/ppt/notesMasters/notesMaster1.xml" Id="R00c6a164d4b14b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VaultX as a document management prototype with a MongoDB analytics extension.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 stores document metadata and account data in MongoDB. Binary uploads are handled through Cloudinary.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operational backend uses Mongoose. The course extension uses PyMongo directly. The Python projection reads filename, MIME type, size and folder status.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 retains legacy fileSize strings for display compatibility. New uploads store exact numeric sizeBytes.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index and aggregation commands are implemented in analytics/vault_ml.py. Search is still a case-insensitive regex and is not fully optimized by the added index.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synthetic records sampled from type-specific size distributions. They are not real user files.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Folders and missing or invalid sizes are excluded. sizeBytes is preferred. Categorical features are one-hot encoded within the model pipeline. File size does not enter the classifier inputs.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models use DictVectorizer for categorical metadata, then the relevant scikit-learn Random Forest estimator. All fitting uses only the training split.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MAE is 1.7136 MB. R2 is 0.5681. These metrics come from analytics/results/metrics.json and represent a generated demo dataset.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Accuracy 0.7800, precision 0.6625, recall 0.8983, F1 0.7626. Recall is high for large files, but precision shows more false positives.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connection check on 29 October 2026: Atlas had 16 file records, 11 usable for ML, 10 small and 1 large. Local MongoDB had no file records. Minimum for real training is 40 usable records and 5 in each class. The 600-record synthetic demo was seeded and evaluated through PyMongo against Atlas.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meets the MongoDB/PyMongo and ML course requirements. The reported scores apply to generated metadata. Invite questions on data modeling, aggregation or evaluation. Source: reports/MONGODB_PROJECT_REPORT.md and analytics/results/metrics.json in the project repository. Synthetic demo results were generated with seed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aec0f2382e45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3b3517d1114d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a2961a5734c4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603c2d47e241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837bcb42a645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ea6a387bba44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A3F679-BA49-48EF-90C7-D7708D2F8A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459E431-DDEB-4394-BCEB-03A7EA85199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7E7D46F-971B-4DC3-908C-6775B75145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BCDEA0-8824-411B-BE23-2D03B9DE25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692A16F-522B-437E-B9B8-425ACBF34A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6F5491-A41E-41BC-A2D0-7A693A60E7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87CC09-A5CF-4D93-8EB8-D4DE2F89CF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0D3ECE-494B-4AE5-81EC-43BF43CB32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75009D-E26A-4705-AB6F-4736AC789A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78E34DC-D0E7-42AB-9248-92885A118B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6dfeda54174f40" /><Relationship Type="http://schemas.openxmlformats.org/officeDocument/2006/relationships/slideLayout" Target="/ppt/slideLayouts/slideLayout1.xml" Id="R74311d8ee12646e0" /><Relationship Type="http://schemas.openxmlformats.org/officeDocument/2006/relationships/slideLayout" Target="/ppt/slideLayouts/slideLayout2.xml" Id="R1aea5f8adb8b4a23" /><Relationship Type="http://schemas.openxmlformats.org/officeDocument/2006/relationships/slideLayout" Target="/ppt/slideLayouts/slideLayout3.xml" Id="R34199d925b2a4d3f" /><Relationship Type="http://schemas.openxmlformats.org/officeDocument/2006/relationships/slideLayout" Target="/ppt/slideLayouts/slideLayout4.xml" Id="Rdb5d1525eb8d4740" /><Relationship Type="http://schemas.openxmlformats.org/officeDocument/2006/relationships/slideLayout" Target="/ppt/slideLayouts/slideLayout5.xml" Id="Re9e3de7fd331400b" /><Relationship Type="http://schemas.openxmlformats.org/officeDocument/2006/relationships/slideLayout" Target="/ppt/slideLayouts/slideLayout6.xml" Id="R420758d42b0b41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311d8ee12646e0"/>
    <p:sldLayoutId xmlns:r="http://schemas.openxmlformats.org/officeDocument/2006/relationships" id="2147483650" r:id="R1aea5f8adb8b4a23"/>
    <p:sldLayoutId xmlns:r="http://schemas.openxmlformats.org/officeDocument/2006/relationships" id="2147483651" r:id="R34199d925b2a4d3f"/>
    <p:sldLayoutId xmlns:r="http://schemas.openxmlformats.org/officeDocument/2006/relationships" id="2147483652" r:id="Rdb5d1525eb8d4740"/>
    <p:sldLayoutId xmlns:r="http://schemas.openxmlformats.org/officeDocument/2006/relationships" id="2147483653" r:id="Re9e3de7fd331400b"/>
    <p:sldLayoutId xmlns:r="http://schemas.openxmlformats.org/officeDocument/2006/relationships" id="2147483654" r:id="R420758d42b0b41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190ae881bd42e5" /><Relationship Type="http://schemas.openxmlformats.org/officeDocument/2006/relationships/image" Target="/ppt/media/image.png" Id="Re2aa94d6eb8f410e" /><Relationship Type="http://schemas.openxmlformats.org/officeDocument/2006/relationships/notesSlide" Target="/ppt/notesSlides/notesSlide1.xml" Id="R0a6fa5ed00d745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c4a4a483944cee" /><Relationship Type="http://schemas.openxmlformats.org/officeDocument/2006/relationships/notesSlide" Target="/ppt/notesSlides/notesSlide2.xml" Id="R8541e6bff6374f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24e4532aa74e06" /><Relationship Type="http://schemas.openxmlformats.org/officeDocument/2006/relationships/notesSlide" Target="/ppt/notesSlides/notesSlide3.xml" Id="R3ebe504ae4eb45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900341fa154a53" /><Relationship Type="http://schemas.openxmlformats.org/officeDocument/2006/relationships/notesSlide" Target="/ppt/notesSlides/notesSlide4.xml" Id="R6d06a1e169554f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c55cf0bcc4631" /><Relationship Type="http://schemas.openxmlformats.org/officeDocument/2006/relationships/notesSlide" Target="/ppt/notesSlides/notesSlide5.xml" Id="R3d5d6ebf223d40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707664c1724f92" /><Relationship Type="http://schemas.openxmlformats.org/officeDocument/2006/relationships/notesSlide" Target="/ppt/notesSlides/notesSlide6.xml" Id="Rff99fa7f2b0e43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fbc1032a8d4ada" /><Relationship Type="http://schemas.openxmlformats.org/officeDocument/2006/relationships/notesSlide" Target="/ppt/notesSlides/notesSlide7.xml" Id="R5e65d59ebf4041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f3c9149e0a4489" /><Relationship Type="http://schemas.openxmlformats.org/officeDocument/2006/relationships/notesSlide" Target="/ppt/notesSlides/notesSlide8.xml" Id="R83d3c129665544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82343ceee9405e" /><Relationship Type="http://schemas.openxmlformats.org/officeDocument/2006/relationships/notesSlide" Target="/ppt/notesSlides/notesSlide9.xml" Id="R87c8111e35a94a8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4d03b1c4df412f" /><Relationship Type="http://schemas.openxmlformats.org/officeDocument/2006/relationships/chart" Target="/ppt/slides/charts/chart1.xml" Id="R463a7152410c49cb" /><Relationship Type="http://schemas.openxmlformats.org/officeDocument/2006/relationships/notesSlide" Target="/ppt/notesSlides/notesSlide10.xml" Id="Rbe17ab9a01134c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76dba1497e4a82" /><Relationship Type="http://schemas.openxmlformats.org/officeDocument/2006/relationships/notesSlide" Target="/ppt/notesSlides/notesSlide11.xml" Id="R57a63f32fbd84c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53505edcf04ee1" /><Relationship Type="http://schemas.openxmlformats.org/officeDocument/2006/relationships/notesSlide" Target="/ppt/notesSlides/notesSlide12.xml" Id="R56860ade3dad4c0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Score</c:v>
          </c:tx>
          <c:spPr>
            <a:solidFill xmlns:a="http://schemas.openxmlformats.org/drawingml/2006/main">
              <a:srgbClr val="287A77"/>
            </a:solidFill>
          </c:spPr>
          <c:invertIfNegative val="0"/>
          <c:cat>
            <c:strLit>
              <c:ptCount val="4"/>
              <c:pt idx="0">
                <c:v>Accuracy</c:v>
              </c:pt>
              <c:pt idx="1">
                <c:v>Precision</c:v>
              </c:pt>
              <c:pt idx="2">
                <c:v>Recall</c:v>
              </c:pt>
              <c:pt idx="3">
                <c:v>F1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66.25</c:v>
              </c:pt>
              <c:pt idx="2">
                <c:v>89.83</c:v>
              </c:pt>
              <c:pt idx="3">
                <c:v>76.26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12E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D2B3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FE2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577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A3F45-AF2D-4883-9031-23B9B2ED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112E4D"/>
                </a:solidFill>
              </a:defRPr>
            </a:defPPr>
            <a:lvl1pPr>
              <a:defRPr sz="4650" b="1">
                <a:solidFill>
                  <a:srgbClr val="112E4D"/>
                </a:solidFill>
              </a:defRPr>
            </a:lvl1pPr>
            <a:lvl2pPr>
              <a:defRPr sz="4650" b="1">
                <a:solidFill>
                  <a:srgbClr val="112E4D"/>
                </a:solidFill>
              </a:defRPr>
            </a:lvl2pPr>
            <a:lvl3pPr>
              <a:defRPr sz="4650" b="1">
                <a:solidFill>
                  <a:srgbClr val="112E4D"/>
                </a:solidFill>
              </a:defRPr>
            </a:lvl3pPr>
            <a:lvl4pPr>
              <a:defRPr sz="4650" b="1">
                <a:solidFill>
                  <a:srgbClr val="112E4D"/>
                </a:solidFill>
              </a:defRPr>
            </a:lvl4pPr>
            <a:lvl5pPr>
              <a:defRPr sz="4650" b="1">
                <a:solidFill>
                  <a:srgbClr val="112E4D"/>
                </a:solidFill>
              </a:defRPr>
            </a:lvl5pPr>
            <a:lvl6pPr>
              <a:defRPr sz="4650" b="1">
                <a:solidFill>
                  <a:srgbClr val="112E4D"/>
                </a:solidFill>
              </a:defRPr>
            </a:lvl6pPr>
            <a:lvl7pPr>
              <a:defRPr sz="4650" b="1">
                <a:solidFill>
                  <a:srgbClr val="112E4D"/>
                </a:solidFill>
              </a:defRPr>
            </a:lvl7pPr>
            <a:lvl8pPr>
              <a:defRPr sz="4650" b="1">
                <a:solidFill>
                  <a:srgbClr val="112E4D"/>
                </a:solidFill>
              </a:defRPr>
            </a:lvl8pPr>
            <a:lvl9pPr>
              <a:defRPr sz="465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112E4D"/>
                </a:solidFill>
              </a:defRPr>
            </a:pPr>
            <a:r>
              <a:rPr sz="4650" b="1">
                <a:solidFill>
                  <a:srgbClr val="112E4D"/>
                </a:solidFill>
              </a:rPr>
              <a:t>VaultX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24FE7-4215-4EA9-8C88-C38F048B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75" b="1">
                <a:solidFill>
                  <a:srgbClr val="112E4D"/>
                </a:solidFill>
              </a:defRPr>
            </a:defPPr>
            <a:lvl1pPr algn="l">
              <a:defRPr sz="2775" b="1">
                <a:solidFill>
                  <a:srgbClr val="112E4D"/>
                </a:solidFill>
              </a:defRPr>
            </a:lvl1pPr>
            <a:lvl2pPr algn="l">
              <a:defRPr sz="2775" b="1">
                <a:solidFill>
                  <a:srgbClr val="112E4D"/>
                </a:solidFill>
              </a:defRPr>
            </a:lvl2pPr>
            <a:lvl3pPr algn="l">
              <a:defRPr sz="2775" b="1">
                <a:solidFill>
                  <a:srgbClr val="112E4D"/>
                </a:solidFill>
              </a:defRPr>
            </a:lvl3pPr>
            <a:lvl4pPr algn="l">
              <a:defRPr sz="2775" b="1">
                <a:solidFill>
                  <a:srgbClr val="112E4D"/>
                </a:solidFill>
              </a:defRPr>
            </a:lvl4pPr>
            <a:lvl5pPr algn="l">
              <a:defRPr sz="2775" b="1">
                <a:solidFill>
                  <a:srgbClr val="112E4D"/>
                </a:solidFill>
              </a:defRPr>
            </a:lvl5pPr>
            <a:lvl6pPr algn="l">
              <a:defRPr sz="2775" b="1">
                <a:solidFill>
                  <a:srgbClr val="112E4D"/>
                </a:solidFill>
              </a:defRPr>
            </a:lvl6pPr>
            <a:lvl7pPr algn="l">
              <a:defRPr sz="2775" b="1">
                <a:solidFill>
                  <a:srgbClr val="112E4D"/>
                </a:solidFill>
              </a:defRPr>
            </a:lvl7pPr>
            <a:lvl8pPr algn="l">
              <a:defRPr sz="2775" b="1">
                <a:solidFill>
                  <a:srgbClr val="112E4D"/>
                </a:solidFill>
              </a:defRPr>
            </a:lvl8pPr>
            <a:lvl9pPr algn="l">
              <a:defRPr sz="2775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112E4D"/>
                </a:solidFill>
              </a:defRPr>
            </a:pPr>
            <a:r>
              <a:rPr sz="2775" b="1">
                <a:solidFill>
                  <a:srgbClr val="112E4D"/>
                </a:solidFill>
              </a:rPr>
              <a:t>MongoDB document vault and metadata analytics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D314B-2A9E-4950-A4D2-A6297122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526577"/>
                </a:solidFill>
              </a:defRPr>
            </a:defPPr>
            <a:lvl1pPr algn="l">
              <a:defRPr sz="1725" b="0">
                <a:solidFill>
                  <a:srgbClr val="526577"/>
                </a:solidFill>
              </a:defRPr>
            </a:lvl1pPr>
            <a:lvl2pPr algn="l">
              <a:defRPr sz="1725" b="0">
                <a:solidFill>
                  <a:srgbClr val="526577"/>
                </a:solidFill>
              </a:defRPr>
            </a:lvl2pPr>
            <a:lvl3pPr algn="l">
              <a:defRPr sz="1725" b="0">
                <a:solidFill>
                  <a:srgbClr val="526577"/>
                </a:solidFill>
              </a:defRPr>
            </a:lvl3pPr>
            <a:lvl4pPr algn="l">
              <a:defRPr sz="1725" b="0">
                <a:solidFill>
                  <a:srgbClr val="526577"/>
                </a:solidFill>
              </a:defRPr>
            </a:lvl4pPr>
            <a:lvl5pPr algn="l">
              <a:defRPr sz="1725" b="0">
                <a:solidFill>
                  <a:srgbClr val="526577"/>
                </a:solidFill>
              </a:defRPr>
            </a:lvl5pPr>
            <a:lvl6pPr algn="l">
              <a:defRPr sz="1725" b="0">
                <a:solidFill>
                  <a:srgbClr val="526577"/>
                </a:solidFill>
              </a:defRPr>
            </a:lvl6pPr>
            <a:lvl7pPr algn="l">
              <a:defRPr sz="1725" b="0">
                <a:solidFill>
                  <a:srgbClr val="526577"/>
                </a:solidFill>
              </a:defRPr>
            </a:lvl7pPr>
            <a:lvl8pPr algn="l">
              <a:defRPr sz="1725" b="0">
                <a:solidFill>
                  <a:srgbClr val="526577"/>
                </a:solidFill>
              </a:defRPr>
            </a:lvl8pPr>
            <a:lvl9pPr algn="l">
              <a:defRPr sz="1725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26577"/>
                </a:solidFill>
              </a:defRPr>
            </a:pPr>
            <a:r>
              <a:rPr sz="1725" b="0">
                <a:solidFill>
                  <a:srgbClr val="526577"/>
                </a:solidFill>
              </a:rPr>
              <a:t>Course project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FCE20-630C-452D-B40A-1AFF9518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7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726EC-0F6E-4D7E-8568-EA2A35DC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1D2B38"/>
                </a:solidFill>
              </a:defRPr>
            </a:defPPr>
            <a:lvl1pPr algn="l">
              <a:defRPr sz="1575" b="1">
                <a:solidFill>
                  <a:srgbClr val="1D2B38"/>
                </a:solidFill>
              </a:defRPr>
            </a:lvl1pPr>
            <a:lvl2pPr algn="l">
              <a:defRPr sz="1575" b="1">
                <a:solidFill>
                  <a:srgbClr val="1D2B38"/>
                </a:solidFill>
              </a:defRPr>
            </a:lvl2pPr>
            <a:lvl3pPr algn="l">
              <a:defRPr sz="1575" b="1">
                <a:solidFill>
                  <a:srgbClr val="1D2B38"/>
                </a:solidFill>
              </a:defRPr>
            </a:lvl3pPr>
            <a:lvl4pPr algn="l">
              <a:defRPr sz="1575" b="1">
                <a:solidFill>
                  <a:srgbClr val="1D2B38"/>
                </a:solidFill>
              </a:defRPr>
            </a:lvl4pPr>
            <a:lvl5pPr algn="l">
              <a:defRPr sz="1575" b="1">
                <a:solidFill>
                  <a:srgbClr val="1D2B38"/>
                </a:solidFill>
              </a:defRPr>
            </a:lvl5pPr>
            <a:lvl6pPr algn="l">
              <a:defRPr sz="1575" b="1">
                <a:solidFill>
                  <a:srgbClr val="1D2B38"/>
                </a:solidFill>
              </a:defRPr>
            </a:lvl6pPr>
            <a:lvl7pPr algn="l">
              <a:defRPr sz="1575" b="1">
                <a:solidFill>
                  <a:srgbClr val="1D2B38"/>
                </a:solidFill>
              </a:defRPr>
            </a:lvl7pPr>
            <a:lvl8pPr algn="l">
              <a:defRPr sz="1575" b="1">
                <a:solidFill>
                  <a:srgbClr val="1D2B38"/>
                </a:solidFill>
              </a:defRPr>
            </a:lvl8pPr>
            <a:lvl9pPr algn="l">
              <a:defRPr sz="1575" b="1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D2B38"/>
                </a:solidFill>
              </a:defRPr>
            </a:pPr>
            <a:r>
              <a:rPr sz="1575" b="1">
                <a:solidFill>
                  <a:srgbClr val="1D2B38"/>
                </a:solidFill>
              </a:rPr>
              <a:t>Abijith C 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A6C3D-7F7E-4277-8DAE-65841D01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2932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526577"/>
                </a:solidFill>
              </a:defRPr>
            </a:defPPr>
            <a:lvl1pPr algn="l">
              <a:defRPr sz="1350" b="0">
                <a:solidFill>
                  <a:srgbClr val="526577"/>
                </a:solidFill>
              </a:defRPr>
            </a:lvl1pPr>
            <a:lvl2pPr algn="l">
              <a:defRPr sz="1350" b="0">
                <a:solidFill>
                  <a:srgbClr val="526577"/>
                </a:solidFill>
              </a:defRPr>
            </a:lvl2pPr>
            <a:lvl3pPr algn="l">
              <a:defRPr sz="1350" b="0">
                <a:solidFill>
                  <a:srgbClr val="526577"/>
                </a:solidFill>
              </a:defRPr>
            </a:lvl3pPr>
            <a:lvl4pPr algn="l">
              <a:defRPr sz="1350" b="0">
                <a:solidFill>
                  <a:srgbClr val="526577"/>
                </a:solidFill>
              </a:defRPr>
            </a:lvl4pPr>
            <a:lvl5pPr algn="l">
              <a:defRPr sz="1350" b="0">
                <a:solidFill>
                  <a:srgbClr val="526577"/>
                </a:solidFill>
              </a:defRPr>
            </a:lvl5pPr>
            <a:lvl6pPr algn="l">
              <a:defRPr sz="1350" b="0">
                <a:solidFill>
                  <a:srgbClr val="526577"/>
                </a:solidFill>
              </a:defRPr>
            </a:lvl6pPr>
            <a:lvl7pPr algn="l">
              <a:defRPr sz="1350" b="0">
                <a:solidFill>
                  <a:srgbClr val="526577"/>
                </a:solidFill>
              </a:defRPr>
            </a:lvl7pPr>
            <a:lvl8pPr algn="l">
              <a:defRPr sz="1350" b="0">
                <a:solidFill>
                  <a:srgbClr val="526577"/>
                </a:solidFill>
              </a:defRPr>
            </a:lvl8pPr>
            <a:lvl9pPr algn="l">
              <a:defRPr sz="13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26577"/>
                </a:solidFill>
              </a:defRPr>
            </a:pPr>
            <a:r>
              <a:rPr sz="1350" b="0">
                <a:solidFill>
                  <a:srgbClr val="526577"/>
                </a:solidFill>
              </a:rPr>
              <a:t>React  ·  Express  ·  MongoDB  ·  PyMongo  ·  scikit-learn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725301-A814-4F5C-BD22-1D177778B8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a94d6eb8f410e"/>
          <a:stretch xmlns:a="http://schemas.openxmlformats.org/drawingml/2006/main"/>
        </p:blipFill>
        <p:spPr>
          <a:xfrm xmlns:a="http://schemas.openxmlformats.org/drawingml/2006/main">
            <a:off x="8572500" y="736049"/>
            <a:ext cx="2571750" cy="128062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0405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88748-560B-4B22-B107-F0F9017D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What the project does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32C96-3C26-480B-BAE0-AD6E6DC0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D1A00-A639-43F2-B98D-33CBD41B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E9BB7-39CA-4E86-84D2-D6B4A138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63128-85F5-4193-9765-55B083D5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5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112E4D"/>
                </a:solidFill>
              </a:defRPr>
            </a:defPPr>
            <a:lvl1pPr algn="l">
              <a:defRPr sz="2250" b="1">
                <a:solidFill>
                  <a:srgbClr val="112E4D"/>
                </a:solidFill>
              </a:defRPr>
            </a:lvl1pPr>
            <a:lvl2pPr algn="l">
              <a:defRPr sz="2250" b="1">
                <a:solidFill>
                  <a:srgbClr val="112E4D"/>
                </a:solidFill>
              </a:defRPr>
            </a:lvl2pPr>
            <a:lvl3pPr algn="l">
              <a:defRPr sz="2250" b="1">
                <a:solidFill>
                  <a:srgbClr val="112E4D"/>
                </a:solidFill>
              </a:defRPr>
            </a:lvl3pPr>
            <a:lvl4pPr algn="l">
              <a:defRPr sz="2250" b="1">
                <a:solidFill>
                  <a:srgbClr val="112E4D"/>
                </a:solidFill>
              </a:defRPr>
            </a:lvl4pPr>
            <a:lvl5pPr algn="l">
              <a:defRPr sz="2250" b="1">
                <a:solidFill>
                  <a:srgbClr val="112E4D"/>
                </a:solidFill>
              </a:defRPr>
            </a:lvl5pPr>
            <a:lvl6pPr algn="l">
              <a:defRPr sz="2250" b="1">
                <a:solidFill>
                  <a:srgbClr val="112E4D"/>
                </a:solidFill>
              </a:defRPr>
            </a:lvl6pPr>
            <a:lvl7pPr algn="l">
              <a:defRPr sz="2250" b="1">
                <a:solidFill>
                  <a:srgbClr val="112E4D"/>
                </a:solidFill>
              </a:defRPr>
            </a:lvl7pPr>
            <a:lvl8pPr algn="l">
              <a:defRPr sz="2250" b="1">
                <a:solidFill>
                  <a:srgbClr val="112E4D"/>
                </a:solidFill>
              </a:defRPr>
            </a:lvl8pPr>
            <a:lvl9pPr algn="l">
              <a:defRPr sz="225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2E4D"/>
                </a:solidFill>
              </a:defRPr>
            </a:pPr>
            <a:r>
              <a:rPr sz="2250" b="1">
                <a:solidFill>
                  <a:srgbClr val="112E4D"/>
                </a:solidFill>
              </a:rPr>
              <a:t>A document vault with a searchable history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4D61D-1D69-44DD-B90A-EA18A174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Users upload documents, organize folders, search files, review activity and recover items from Trash.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8A306-1F9E-48E9-9F1D-3F13B846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192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287A77"/>
                </a:solidFill>
              </a:defRPr>
            </a:defPPr>
            <a:lvl1pPr algn="l">
              <a:defRPr sz="1875" b="1">
                <a:solidFill>
                  <a:srgbClr val="287A77"/>
                </a:solidFill>
              </a:defRPr>
            </a:lvl1pPr>
            <a:lvl2pPr algn="l">
              <a:defRPr sz="1875" b="1">
                <a:solidFill>
                  <a:srgbClr val="287A77"/>
                </a:solidFill>
              </a:defRPr>
            </a:lvl2pPr>
            <a:lvl3pPr algn="l">
              <a:defRPr sz="1875" b="1">
                <a:solidFill>
                  <a:srgbClr val="287A77"/>
                </a:solidFill>
              </a:defRPr>
            </a:lvl3pPr>
            <a:lvl4pPr algn="l">
              <a:defRPr sz="1875" b="1">
                <a:solidFill>
                  <a:srgbClr val="287A77"/>
                </a:solidFill>
              </a:defRPr>
            </a:lvl4pPr>
            <a:lvl5pPr algn="l">
              <a:defRPr sz="1875" b="1">
                <a:solidFill>
                  <a:srgbClr val="287A77"/>
                </a:solidFill>
              </a:defRPr>
            </a:lvl5pPr>
            <a:lvl6pPr algn="l">
              <a:defRPr sz="1875" b="1">
                <a:solidFill>
                  <a:srgbClr val="287A77"/>
                </a:solidFill>
              </a:defRPr>
            </a:lvl6pPr>
            <a:lvl7pPr algn="l">
              <a:defRPr sz="1875" b="1">
                <a:solidFill>
                  <a:srgbClr val="287A77"/>
                </a:solidFill>
              </a:defRPr>
            </a:lvl7pPr>
            <a:lvl8pPr algn="l">
              <a:defRPr sz="1875" b="1">
                <a:solidFill>
                  <a:srgbClr val="287A77"/>
                </a:solidFill>
              </a:defRPr>
            </a:lvl8pPr>
            <a:lvl9pPr algn="l">
              <a:defRPr sz="187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7A77"/>
                </a:solidFill>
              </a:defRPr>
            </a:pPr>
            <a:r>
              <a:rPr sz="1875" b="1">
                <a:solidFill>
                  <a:srgbClr val="287A77"/>
                </a:solidFill>
              </a:rPr>
              <a:t>Course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5EB72-08A1-41A3-BD70-2235FFD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4524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Use MongoDB to store file metadata and activity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9FB798-0F22-4B97-83A4-FF5448C9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38500"/>
            <a:ext cx="4524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Use PyMongo to query and aggregate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64516-C262-4F18-A1DE-D95C55F2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91000"/>
            <a:ext cx="4524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Train models from metadata and report held-out results</a:t>
            </a:r>
          </a:p>
        </p:txBody>
      </p:sp>
    </p:spTree>
    <p:extLst>
      <p:ext uri="{BB962C8B-B14F-4D97-AF65-F5344CB8AC3E}">
        <p14:creationId xmlns:p14="http://schemas.microsoft.com/office/powerpoint/2010/main" val="1331407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54855-7ADB-499D-84E4-CBD33021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Where MongoDB fits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BAB23-DD73-4296-9076-F6AE95F5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A966B-6001-4B29-9A21-B372D914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B375-94AF-475E-9722-816EA2C5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8A7CF-EC0A-4659-9BE6-310A067E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144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287A77"/>
                </a:solidFill>
              </a:defRPr>
            </a:defPPr>
            <a:lvl1pPr algn="l">
              <a:defRPr sz="1350" b="1">
                <a:solidFill>
                  <a:srgbClr val="287A77"/>
                </a:solidFill>
              </a:defRPr>
            </a:lvl1pPr>
            <a:lvl2pPr algn="l">
              <a:defRPr sz="1350" b="1">
                <a:solidFill>
                  <a:srgbClr val="287A77"/>
                </a:solidFill>
              </a:defRPr>
            </a:lvl2pPr>
            <a:lvl3pPr algn="l">
              <a:defRPr sz="1350" b="1">
                <a:solidFill>
                  <a:srgbClr val="287A77"/>
                </a:solidFill>
              </a:defRPr>
            </a:lvl3pPr>
            <a:lvl4pPr algn="l">
              <a:defRPr sz="1350" b="1">
                <a:solidFill>
                  <a:srgbClr val="287A77"/>
                </a:solidFill>
              </a:defRPr>
            </a:lvl4pPr>
            <a:lvl5pPr algn="l">
              <a:defRPr sz="1350" b="1">
                <a:solidFill>
                  <a:srgbClr val="287A77"/>
                </a:solidFill>
              </a:defRPr>
            </a:lvl5pPr>
            <a:lvl6pPr algn="l">
              <a:defRPr sz="1350" b="1">
                <a:solidFill>
                  <a:srgbClr val="287A77"/>
                </a:solidFill>
              </a:defRPr>
            </a:lvl6pPr>
            <a:lvl7pPr algn="l">
              <a:defRPr sz="1350" b="1">
                <a:solidFill>
                  <a:srgbClr val="287A77"/>
                </a:solidFill>
              </a:defRPr>
            </a:lvl7pPr>
            <a:lvl8pPr algn="l">
              <a:defRPr sz="1350" b="1">
                <a:solidFill>
                  <a:srgbClr val="287A77"/>
                </a:solidFill>
              </a:defRPr>
            </a:lvl8pPr>
            <a:lvl9pPr algn="l">
              <a:defRPr sz="1350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87A77"/>
                </a:solidFill>
              </a:defRPr>
            </a:pPr>
            <a:r>
              <a:rPr sz="1350" b="1">
                <a:solidFill>
                  <a:srgbClr val="287A77"/>
                </a:solidFill>
              </a:rPr>
              <a:t>WEB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0846A-96B9-4215-9DE9-9BC2F761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9775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React dashboard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Folders, search, Trash, storage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F8834-5575-4005-BA95-D276555F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144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287A77"/>
                </a:solidFill>
              </a:defRPr>
            </a:defPPr>
            <a:lvl1pPr algn="l">
              <a:defRPr sz="1350" b="1">
                <a:solidFill>
                  <a:srgbClr val="287A77"/>
                </a:solidFill>
              </a:defRPr>
            </a:lvl1pPr>
            <a:lvl2pPr algn="l">
              <a:defRPr sz="1350" b="1">
                <a:solidFill>
                  <a:srgbClr val="287A77"/>
                </a:solidFill>
              </a:defRPr>
            </a:lvl2pPr>
            <a:lvl3pPr algn="l">
              <a:defRPr sz="1350" b="1">
                <a:solidFill>
                  <a:srgbClr val="287A77"/>
                </a:solidFill>
              </a:defRPr>
            </a:lvl3pPr>
            <a:lvl4pPr algn="l">
              <a:defRPr sz="1350" b="1">
                <a:solidFill>
                  <a:srgbClr val="287A77"/>
                </a:solidFill>
              </a:defRPr>
            </a:lvl4pPr>
            <a:lvl5pPr algn="l">
              <a:defRPr sz="1350" b="1">
                <a:solidFill>
                  <a:srgbClr val="287A77"/>
                </a:solidFill>
              </a:defRPr>
            </a:lvl5pPr>
            <a:lvl6pPr algn="l">
              <a:defRPr sz="1350" b="1">
                <a:solidFill>
                  <a:srgbClr val="287A77"/>
                </a:solidFill>
              </a:defRPr>
            </a:lvl6pPr>
            <a:lvl7pPr algn="l">
              <a:defRPr sz="1350" b="1">
                <a:solidFill>
                  <a:srgbClr val="287A77"/>
                </a:solidFill>
              </a:defRPr>
            </a:lvl7pPr>
            <a:lvl8pPr algn="l">
              <a:defRPr sz="1350" b="1">
                <a:solidFill>
                  <a:srgbClr val="287A77"/>
                </a:solidFill>
              </a:defRPr>
            </a:lvl8pPr>
            <a:lvl9pPr algn="l">
              <a:defRPr sz="1350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87A77"/>
                </a:solidFill>
              </a:defRPr>
            </a:pPr>
            <a:r>
              <a:rPr sz="1350" b="1">
                <a:solidFill>
                  <a:srgbClr val="287A77"/>
                </a:solidFill>
              </a:rPr>
              <a:t>API AND STORAGE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F89D7-9AEF-403D-8B93-80880BC9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09775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Express + Mongoose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Users, files, activities in MongoDB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File bytes in Cloudinary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5291B-0BC7-4821-A772-843FC77D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144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287A77"/>
                </a:solidFill>
              </a:defRPr>
            </a:defPPr>
            <a:lvl1pPr algn="l">
              <a:defRPr sz="1350" b="1">
                <a:solidFill>
                  <a:srgbClr val="287A77"/>
                </a:solidFill>
              </a:defRPr>
            </a:lvl1pPr>
            <a:lvl2pPr algn="l">
              <a:defRPr sz="1350" b="1">
                <a:solidFill>
                  <a:srgbClr val="287A77"/>
                </a:solidFill>
              </a:defRPr>
            </a:lvl2pPr>
            <a:lvl3pPr algn="l">
              <a:defRPr sz="1350" b="1">
                <a:solidFill>
                  <a:srgbClr val="287A77"/>
                </a:solidFill>
              </a:defRPr>
            </a:lvl3pPr>
            <a:lvl4pPr algn="l">
              <a:defRPr sz="1350" b="1">
                <a:solidFill>
                  <a:srgbClr val="287A77"/>
                </a:solidFill>
              </a:defRPr>
            </a:lvl4pPr>
            <a:lvl5pPr algn="l">
              <a:defRPr sz="1350" b="1">
                <a:solidFill>
                  <a:srgbClr val="287A77"/>
                </a:solidFill>
              </a:defRPr>
            </a:lvl5pPr>
            <a:lvl6pPr algn="l">
              <a:defRPr sz="1350" b="1">
                <a:solidFill>
                  <a:srgbClr val="287A77"/>
                </a:solidFill>
              </a:defRPr>
            </a:lvl6pPr>
            <a:lvl7pPr algn="l">
              <a:defRPr sz="1350" b="1">
                <a:solidFill>
                  <a:srgbClr val="287A77"/>
                </a:solidFill>
              </a:defRPr>
            </a:lvl7pPr>
            <a:lvl8pPr algn="l">
              <a:defRPr sz="1350" b="1">
                <a:solidFill>
                  <a:srgbClr val="287A77"/>
                </a:solidFill>
              </a:defRPr>
            </a:lvl8pPr>
            <a:lvl9pPr algn="l">
              <a:defRPr sz="1350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87A77"/>
                </a:solidFill>
              </a:defRPr>
            </a:pPr>
            <a:r>
              <a:rPr sz="1350" b="1">
                <a:solidFill>
                  <a:srgbClr val="287A77"/>
                </a:solidFill>
              </a:rPr>
              <a:t>ANALYTICS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EDC9E-E564-4C1B-97DB-2C380F78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9775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PyMongo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Indexes and aggregation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Model runs in MongoDB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87755-3093-4057-AAD7-71B8C972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19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F1276-CB21-47A6-BD2B-86E91ED5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95500"/>
            <a:ext cx="19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7E409-2693-406E-83CB-9D73A81B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112E4D"/>
                </a:solidFill>
              </a:defRPr>
            </a:defPPr>
            <a:lvl1pPr algn="l">
              <a:defRPr sz="1800" b="1">
                <a:solidFill>
                  <a:srgbClr val="112E4D"/>
                </a:solidFill>
              </a:defRPr>
            </a:lvl1pPr>
            <a:lvl2pPr algn="l">
              <a:defRPr sz="1800" b="1">
                <a:solidFill>
                  <a:srgbClr val="112E4D"/>
                </a:solidFill>
              </a:defRPr>
            </a:lvl2pPr>
            <a:lvl3pPr algn="l">
              <a:defRPr sz="1800" b="1">
                <a:solidFill>
                  <a:srgbClr val="112E4D"/>
                </a:solidFill>
              </a:defRPr>
            </a:lvl3pPr>
            <a:lvl4pPr algn="l">
              <a:defRPr sz="1800" b="1">
                <a:solidFill>
                  <a:srgbClr val="112E4D"/>
                </a:solidFill>
              </a:defRPr>
            </a:lvl4pPr>
            <a:lvl5pPr algn="l">
              <a:defRPr sz="1800" b="1">
                <a:solidFill>
                  <a:srgbClr val="112E4D"/>
                </a:solidFill>
              </a:defRPr>
            </a:lvl5pPr>
            <a:lvl6pPr algn="l">
              <a:defRPr sz="1800" b="1">
                <a:solidFill>
                  <a:srgbClr val="112E4D"/>
                </a:solidFill>
              </a:defRPr>
            </a:lvl6pPr>
            <a:lvl7pPr algn="l">
              <a:defRPr sz="1800" b="1">
                <a:solidFill>
                  <a:srgbClr val="112E4D"/>
                </a:solidFill>
              </a:defRPr>
            </a:lvl7pPr>
            <a:lvl8pPr algn="l">
              <a:defRPr sz="1800" b="1">
                <a:solidFill>
                  <a:srgbClr val="112E4D"/>
                </a:solidFill>
              </a:defRPr>
            </a:lvl8pPr>
            <a:lvl9pPr algn="l">
              <a:defRPr sz="18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2E4D"/>
                </a:solidFill>
              </a:defRPr>
            </a:pPr>
            <a:r>
              <a:rPr sz="1800" b="1">
                <a:solidFill>
                  <a:srgbClr val="112E4D"/>
                </a:solidFill>
              </a:rPr>
              <a:t>One database supports the app and the analysis. The Python workflow reads metadata, never document contents.</a:t>
            </a:r>
          </a:p>
        </p:txBody>
      </p:sp>
    </p:spTree>
    <p:extLst>
      <p:ext uri="{BB962C8B-B14F-4D97-AF65-F5344CB8AC3E}">
        <p14:creationId xmlns:p14="http://schemas.microsoft.com/office/powerpoint/2010/main" val="7703576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DD530-26B2-4555-B922-1E88858F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Document metadata in MongoDB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CAEBA-3CD8-411A-9A9A-88A7F4D4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9EADC-1985-48E0-8769-72D09B75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C30FE3-8D1E-4150-B3E0-92438889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9BEF5-AEA5-4770-8943-003B921D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files collection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46C99-E213-49F7-B37A-2F340002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191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1D2B38"/>
                </a:solidFill>
              </a:defRPr>
            </a:defPPr>
            <a:lvl1pPr algn="l">
              <a:defRPr sz="1875" b="0">
                <a:solidFill>
                  <a:srgbClr val="1D2B38"/>
                </a:solidFill>
              </a:defRPr>
            </a:lvl1pPr>
            <a:lvl2pPr algn="l">
              <a:defRPr sz="1875" b="0">
                <a:solidFill>
                  <a:srgbClr val="1D2B38"/>
                </a:solidFill>
              </a:defRPr>
            </a:lvl2pPr>
            <a:lvl3pPr algn="l">
              <a:defRPr sz="1875" b="0">
                <a:solidFill>
                  <a:srgbClr val="1D2B38"/>
                </a:solidFill>
              </a:defRPr>
            </a:lvl3pPr>
            <a:lvl4pPr algn="l">
              <a:defRPr sz="1875" b="0">
                <a:solidFill>
                  <a:srgbClr val="1D2B38"/>
                </a:solidFill>
              </a:defRPr>
            </a:lvl4pPr>
            <a:lvl5pPr algn="l">
              <a:defRPr sz="1875" b="0">
                <a:solidFill>
                  <a:srgbClr val="1D2B38"/>
                </a:solidFill>
              </a:defRPr>
            </a:lvl5pPr>
            <a:lvl6pPr algn="l">
              <a:defRPr sz="1875" b="0">
                <a:solidFill>
                  <a:srgbClr val="1D2B38"/>
                </a:solidFill>
              </a:defRPr>
            </a:lvl6pPr>
            <a:lvl7pPr algn="l">
              <a:defRPr sz="1875" b="0">
                <a:solidFill>
                  <a:srgbClr val="1D2B38"/>
                </a:solidFill>
              </a:defRPr>
            </a:lvl7pPr>
            <a:lvl8pPr algn="l">
              <a:defRPr sz="1875" b="0">
                <a:solidFill>
                  <a:srgbClr val="1D2B38"/>
                </a:solidFill>
              </a:defRPr>
            </a:lvl8pPr>
            <a:lvl9pPr algn="l">
              <a:defRPr sz="187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user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fileName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fileType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sizeBytes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isFolder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parentId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createdAt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B9A24-1E69-428E-BE59-6D726C36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112E4D"/>
                </a:solidFill>
              </a:defRPr>
            </a:defPPr>
            <a:lvl1pPr algn="l">
              <a:defRPr sz="2025" b="1">
                <a:solidFill>
                  <a:srgbClr val="112E4D"/>
                </a:solidFill>
              </a:defRPr>
            </a:lvl1pPr>
            <a:lvl2pPr algn="l">
              <a:defRPr sz="2025" b="1">
                <a:solidFill>
                  <a:srgbClr val="112E4D"/>
                </a:solidFill>
              </a:defRPr>
            </a:lvl2pPr>
            <a:lvl3pPr algn="l">
              <a:defRPr sz="2025" b="1">
                <a:solidFill>
                  <a:srgbClr val="112E4D"/>
                </a:solidFill>
              </a:defRPr>
            </a:lvl3pPr>
            <a:lvl4pPr algn="l">
              <a:defRPr sz="2025" b="1">
                <a:solidFill>
                  <a:srgbClr val="112E4D"/>
                </a:solidFill>
              </a:defRPr>
            </a:lvl4pPr>
            <a:lvl5pPr algn="l">
              <a:defRPr sz="2025" b="1">
                <a:solidFill>
                  <a:srgbClr val="112E4D"/>
                </a:solidFill>
              </a:defRPr>
            </a:lvl5pPr>
            <a:lvl6pPr algn="l">
              <a:defRPr sz="2025" b="1">
                <a:solidFill>
                  <a:srgbClr val="112E4D"/>
                </a:solidFill>
              </a:defRPr>
            </a:lvl6pPr>
            <a:lvl7pPr algn="l">
              <a:defRPr sz="2025" b="1">
                <a:solidFill>
                  <a:srgbClr val="112E4D"/>
                </a:solidFill>
              </a:defRPr>
            </a:lvl7pPr>
            <a:lvl8pPr algn="l">
              <a:defRPr sz="2025" b="1">
                <a:solidFill>
                  <a:srgbClr val="112E4D"/>
                </a:solidFill>
              </a:defRPr>
            </a:lvl8pPr>
            <a:lvl9pPr algn="l">
              <a:defRPr sz="2025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2E4D"/>
                </a:solidFill>
              </a:defRPr>
            </a:pPr>
            <a:r>
              <a:rPr sz="2025" b="1">
                <a:solidFill>
                  <a:srgbClr val="112E4D"/>
                </a:solidFill>
              </a:rPr>
              <a:t>Each file record links to its owner and parent folder.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EFF66-FEA1-44DB-A8CA-22BD2DC3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05125"/>
            <a:ext cx="54292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sizeBytes is numeric, so storage totals and model inputs use a consistent unit.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4566E-2674-4B4C-A505-EBCC3B29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76725"/>
            <a:ext cx="5429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Folders have no file size and are excluded from training.</a:t>
            </a:r>
          </a:p>
        </p:txBody>
      </p:sp>
    </p:spTree>
    <p:extLst>
      <p:ext uri="{BB962C8B-B14F-4D97-AF65-F5344CB8AC3E}">
        <p14:creationId xmlns:p14="http://schemas.microsoft.com/office/powerpoint/2010/main" val="9116673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94DEE-13B7-497A-9C6F-EDC6B898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PyMongo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93AE4-AF0A-4260-8839-F0786F71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86A76-C8CB-45E3-90BF-55BC61C8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D8D8A-C9B2-4F74-95BA-83804456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1055B-FCCC-4CAB-9EEE-55F883D1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Indexes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91EED-35CD-4A99-A891-CD1096DC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572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Owner + parent folder + date</a:t>
            </a:r>
          </a:p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Activity owner + date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752B9-3D6A-401C-99D5-AD6E4CFA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Aggregation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B880D-82B2-420C-AA89-690BBF2A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4714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Group files by MIME type to count records and sum or average bytes.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C8023-5FA5-481B-A06E-FA4A912D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8115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1B37A-E7F6-402B-8605-FA3148FD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81150"/>
            <a:ext cx="433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Stored results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9285DB-95B0-4F45-9424-5C0CB287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62175"/>
            <a:ext cx="43338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Mongo-backed training writes model metrics and source information to ml_model_runs.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1D133-4126-4C8A-B039-736D9FB6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29125"/>
            <a:ext cx="4333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D2B38"/>
                </a:solidFill>
              </a:defRPr>
            </a:defPPr>
            <a:lvl1pPr algn="l">
              <a:defRPr sz="1650" b="0">
                <a:solidFill>
                  <a:srgbClr val="1D2B38"/>
                </a:solidFill>
              </a:defRPr>
            </a:lvl1pPr>
            <a:lvl2pPr algn="l">
              <a:defRPr sz="1650" b="0">
                <a:solidFill>
                  <a:srgbClr val="1D2B38"/>
                </a:solidFill>
              </a:defRPr>
            </a:lvl2pPr>
            <a:lvl3pPr algn="l">
              <a:defRPr sz="1650" b="0">
                <a:solidFill>
                  <a:srgbClr val="1D2B38"/>
                </a:solidFill>
              </a:defRPr>
            </a:lvl3pPr>
            <a:lvl4pPr algn="l">
              <a:defRPr sz="1650" b="0">
                <a:solidFill>
                  <a:srgbClr val="1D2B38"/>
                </a:solidFill>
              </a:defRPr>
            </a:lvl4pPr>
            <a:lvl5pPr algn="l">
              <a:defRPr sz="1650" b="0">
                <a:solidFill>
                  <a:srgbClr val="1D2B38"/>
                </a:solidFill>
              </a:defRPr>
            </a:lvl5pPr>
            <a:lvl6pPr algn="l">
              <a:defRPr sz="1650" b="0">
                <a:solidFill>
                  <a:srgbClr val="1D2B38"/>
                </a:solidFill>
              </a:defRPr>
            </a:lvl6pPr>
            <a:lvl7pPr algn="l">
              <a:defRPr sz="1650" b="0">
                <a:solidFill>
                  <a:srgbClr val="1D2B38"/>
                </a:solidFill>
              </a:defRPr>
            </a:lvl7pPr>
            <a:lvl8pPr algn="l">
              <a:defRPr sz="1650" b="0">
                <a:solidFill>
                  <a:srgbClr val="1D2B38"/>
                </a:solidFill>
              </a:defRPr>
            </a:lvl8pPr>
            <a:lvl9pPr algn="l">
              <a:defRPr sz="165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D2B38"/>
                </a:solidFill>
              </a:defRPr>
            </a:pPr>
            <a:r>
              <a:rPr sz="1650" b="0">
                <a:solidFill>
                  <a:srgbClr val="1D2B38"/>
                </a:solidFill>
              </a:rPr>
              <a:t>The check command pings MongoDB and reports whether real-data training is possible.</a:t>
            </a:r>
          </a:p>
        </p:txBody>
      </p:sp>
    </p:spTree>
    <p:extLst>
      <p:ext uri="{BB962C8B-B14F-4D97-AF65-F5344CB8AC3E}">
        <p14:creationId xmlns:p14="http://schemas.microsoft.com/office/powerpoint/2010/main" val="8951888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7D5F3-40D0-44D0-B0E1-EEDB6529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Dataset used for the class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CD144-4D87-4BB3-AF09-73894DF1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606BA-7D33-49AD-AA1A-686D9921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D277D-8250-4690-95D9-7B809E4D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8CB4CF-5651-470F-8CB5-F2769A66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6000" b="1">
                <a:solidFill>
                  <a:srgbClr val="112E4D"/>
                </a:solidFill>
              </a:defRPr>
            </a:defPPr>
            <a:lvl1pPr algn="l">
              <a:defRPr sz="6000" b="1">
                <a:solidFill>
                  <a:srgbClr val="112E4D"/>
                </a:solidFill>
              </a:defRPr>
            </a:lvl1pPr>
            <a:lvl2pPr algn="l">
              <a:defRPr sz="6000" b="1">
                <a:solidFill>
                  <a:srgbClr val="112E4D"/>
                </a:solidFill>
              </a:defRPr>
            </a:lvl2pPr>
            <a:lvl3pPr algn="l">
              <a:defRPr sz="6000" b="1">
                <a:solidFill>
                  <a:srgbClr val="112E4D"/>
                </a:solidFill>
              </a:defRPr>
            </a:lvl3pPr>
            <a:lvl4pPr algn="l">
              <a:defRPr sz="6000" b="1">
                <a:solidFill>
                  <a:srgbClr val="112E4D"/>
                </a:solidFill>
              </a:defRPr>
            </a:lvl4pPr>
            <a:lvl5pPr algn="l">
              <a:defRPr sz="6000" b="1">
                <a:solidFill>
                  <a:srgbClr val="112E4D"/>
                </a:solidFill>
              </a:defRPr>
            </a:lvl5pPr>
            <a:lvl6pPr algn="l">
              <a:defRPr sz="6000" b="1">
                <a:solidFill>
                  <a:srgbClr val="112E4D"/>
                </a:solidFill>
              </a:defRPr>
            </a:lvl6pPr>
            <a:lvl7pPr algn="l">
              <a:defRPr sz="6000" b="1">
                <a:solidFill>
                  <a:srgbClr val="112E4D"/>
                </a:solidFill>
              </a:defRPr>
            </a:lvl7pPr>
            <a:lvl8pPr algn="l">
              <a:defRPr sz="6000" b="1">
                <a:solidFill>
                  <a:srgbClr val="112E4D"/>
                </a:solidFill>
              </a:defRPr>
            </a:lvl8pPr>
            <a:lvl9pPr algn="l">
              <a:defRPr sz="60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6000" b="1">
                <a:solidFill>
                  <a:srgbClr val="112E4D"/>
                </a:solidFill>
              </a:defRPr>
            </a:pPr>
            <a:r>
              <a:rPr sz="6000" b="1">
                <a:solidFill>
                  <a:srgbClr val="112E4D"/>
                </a:solidFill>
              </a:rPr>
              <a:t>600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BD75C-7F5C-43C1-A393-2E2330C3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1D2B38"/>
                </a:solidFill>
              </a:defRPr>
            </a:defPPr>
            <a:lvl1pPr algn="l">
              <a:defRPr sz="1875" b="0">
                <a:solidFill>
                  <a:srgbClr val="1D2B38"/>
                </a:solidFill>
              </a:defRPr>
            </a:lvl1pPr>
            <a:lvl2pPr algn="l">
              <a:defRPr sz="1875" b="0">
                <a:solidFill>
                  <a:srgbClr val="1D2B38"/>
                </a:solidFill>
              </a:defRPr>
            </a:lvl2pPr>
            <a:lvl3pPr algn="l">
              <a:defRPr sz="1875" b="0">
                <a:solidFill>
                  <a:srgbClr val="1D2B38"/>
                </a:solidFill>
              </a:defRPr>
            </a:lvl3pPr>
            <a:lvl4pPr algn="l">
              <a:defRPr sz="1875" b="0">
                <a:solidFill>
                  <a:srgbClr val="1D2B38"/>
                </a:solidFill>
              </a:defRPr>
            </a:lvl4pPr>
            <a:lvl5pPr algn="l">
              <a:defRPr sz="1875" b="0">
                <a:solidFill>
                  <a:srgbClr val="1D2B38"/>
                </a:solidFill>
              </a:defRPr>
            </a:lvl5pPr>
            <a:lvl6pPr algn="l">
              <a:defRPr sz="1875" b="0">
                <a:solidFill>
                  <a:srgbClr val="1D2B38"/>
                </a:solidFill>
              </a:defRPr>
            </a:lvl6pPr>
            <a:lvl7pPr algn="l">
              <a:defRPr sz="1875" b="0">
                <a:solidFill>
                  <a:srgbClr val="1D2B38"/>
                </a:solidFill>
              </a:defRPr>
            </a:lvl7pPr>
            <a:lvl8pPr algn="l">
              <a:defRPr sz="1875" b="0">
                <a:solidFill>
                  <a:srgbClr val="1D2B38"/>
                </a:solidFill>
              </a:defRPr>
            </a:lvl8pPr>
            <a:lvl9pPr algn="l">
              <a:defRPr sz="187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synthetic file records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03B2D-BEC9-4238-88A3-A5549BC1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41910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PDF, DOCX, XLSX, JPEG, PNG and MP3 metadata. Random seed: 42.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20EFF-EF35-4512-9E62-3AF9CF8E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62100"/>
            <a:ext cx="190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FEE6F-2923-47FB-AA73-98797C3A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000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112E4D"/>
                </a:solidFill>
              </a:defRPr>
            </a:defPPr>
            <a:lvl1pPr algn="l">
              <a:defRPr sz="2250" b="1">
                <a:solidFill>
                  <a:srgbClr val="112E4D"/>
                </a:solidFill>
              </a:defRPr>
            </a:lvl1pPr>
            <a:lvl2pPr algn="l">
              <a:defRPr sz="2250" b="1">
                <a:solidFill>
                  <a:srgbClr val="112E4D"/>
                </a:solidFill>
              </a:defRPr>
            </a:lvl2pPr>
            <a:lvl3pPr algn="l">
              <a:defRPr sz="2250" b="1">
                <a:solidFill>
                  <a:srgbClr val="112E4D"/>
                </a:solidFill>
              </a:defRPr>
            </a:lvl3pPr>
            <a:lvl4pPr algn="l">
              <a:defRPr sz="2250" b="1">
                <a:solidFill>
                  <a:srgbClr val="112E4D"/>
                </a:solidFill>
              </a:defRPr>
            </a:lvl4pPr>
            <a:lvl5pPr algn="l">
              <a:defRPr sz="2250" b="1">
                <a:solidFill>
                  <a:srgbClr val="112E4D"/>
                </a:solidFill>
              </a:defRPr>
            </a:lvl5pPr>
            <a:lvl6pPr algn="l">
              <a:defRPr sz="2250" b="1">
                <a:solidFill>
                  <a:srgbClr val="112E4D"/>
                </a:solidFill>
              </a:defRPr>
            </a:lvl6pPr>
            <a:lvl7pPr algn="l">
              <a:defRPr sz="2250" b="1">
                <a:solidFill>
                  <a:srgbClr val="112E4D"/>
                </a:solidFill>
              </a:defRPr>
            </a:lvl7pPr>
            <a:lvl8pPr algn="l">
              <a:defRPr sz="2250" b="1">
                <a:solidFill>
                  <a:srgbClr val="112E4D"/>
                </a:solidFill>
              </a:defRPr>
            </a:lvl8pPr>
            <a:lvl9pPr algn="l">
              <a:defRPr sz="225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2E4D"/>
                </a:solidFill>
              </a:defRPr>
            </a:pPr>
            <a:r>
              <a:rPr sz="2250" b="1">
                <a:solidFill>
                  <a:srgbClr val="112E4D"/>
                </a:solidFill>
              </a:rPr>
              <a:t>The demo collection is separate from user 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87D93-75DE-452F-8FCF-C1D87BE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50006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On 29 October, 600 synthetic records were added to ml_demo_files in Atlas. An offline run reproduced the same scores.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485586-EDD9-4839-A628-6B93DBFA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625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287A77"/>
                </a:solidFill>
              </a:defRPr>
            </a:defPPr>
            <a:lvl1pPr algn="l">
              <a:defRPr sz="1425" b="1">
                <a:solidFill>
                  <a:srgbClr val="287A77"/>
                </a:solidFill>
              </a:defRPr>
            </a:lvl1pPr>
            <a:lvl2pPr algn="l">
              <a:defRPr sz="1425" b="1">
                <a:solidFill>
                  <a:srgbClr val="287A77"/>
                </a:solidFill>
              </a:defRPr>
            </a:lvl2pPr>
            <a:lvl3pPr algn="l">
              <a:defRPr sz="1425" b="1">
                <a:solidFill>
                  <a:srgbClr val="287A77"/>
                </a:solidFill>
              </a:defRPr>
            </a:lvl3pPr>
            <a:lvl4pPr algn="l">
              <a:defRPr sz="1425" b="1">
                <a:solidFill>
                  <a:srgbClr val="287A77"/>
                </a:solidFill>
              </a:defRPr>
            </a:lvl4pPr>
            <a:lvl5pPr algn="l">
              <a:defRPr sz="1425" b="1">
                <a:solidFill>
                  <a:srgbClr val="287A77"/>
                </a:solidFill>
              </a:defRPr>
            </a:lvl5pPr>
            <a:lvl6pPr algn="l">
              <a:defRPr sz="1425" b="1">
                <a:solidFill>
                  <a:srgbClr val="287A77"/>
                </a:solidFill>
              </a:defRPr>
            </a:lvl6pPr>
            <a:lvl7pPr algn="l">
              <a:defRPr sz="1425" b="1">
                <a:solidFill>
                  <a:srgbClr val="287A77"/>
                </a:solidFill>
              </a:defRPr>
            </a:lvl7pPr>
            <a:lvl8pPr algn="l">
              <a:defRPr sz="1425" b="1">
                <a:solidFill>
                  <a:srgbClr val="287A77"/>
                </a:solidFill>
              </a:defRPr>
            </a:lvl8pPr>
            <a:lvl9pPr algn="l">
              <a:defRPr sz="14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87A77"/>
                </a:solidFill>
              </a:defRPr>
            </a:pPr>
            <a:r>
              <a:rPr sz="1425" b="1">
                <a:solidFill>
                  <a:srgbClr val="287A77"/>
                </a:solidFill>
              </a:rPr>
              <a:t>No passwords, card data or file contents enter the model.</a:t>
            </a:r>
          </a:p>
        </p:txBody>
      </p:sp>
    </p:spTree>
    <p:extLst>
      <p:ext uri="{BB962C8B-B14F-4D97-AF65-F5344CB8AC3E}">
        <p14:creationId xmlns:p14="http://schemas.microsoft.com/office/powerpoint/2010/main" val="12208917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0FADC-839D-48B2-AE3D-D1411D31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Preprocessing and test split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95C371-8B47-46AD-9985-924172A8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403FB-A472-4BCE-9DD6-D10EA811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B5F40-1E62-43A5-AD40-E0D563B0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A5DCEC-A546-4F2F-91C8-B24C73AD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465C4-C4E9-4A54-9DEC-673ED659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572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1D2B38"/>
                </a:solidFill>
              </a:defRPr>
            </a:defPPr>
            <a:lvl1pPr algn="l">
              <a:defRPr sz="1875" b="0">
                <a:solidFill>
                  <a:srgbClr val="1D2B38"/>
                </a:solidFill>
              </a:defRPr>
            </a:lvl1pPr>
            <a:lvl2pPr algn="l">
              <a:defRPr sz="1875" b="0">
                <a:solidFill>
                  <a:srgbClr val="1D2B38"/>
                </a:solidFill>
              </a:defRPr>
            </a:lvl2pPr>
            <a:lvl3pPr algn="l">
              <a:defRPr sz="1875" b="0">
                <a:solidFill>
                  <a:srgbClr val="1D2B38"/>
                </a:solidFill>
              </a:defRPr>
            </a:lvl3pPr>
            <a:lvl4pPr algn="l">
              <a:defRPr sz="1875" b="0">
                <a:solidFill>
                  <a:srgbClr val="1D2B38"/>
                </a:solidFill>
              </a:defRPr>
            </a:lvl4pPr>
            <a:lvl5pPr algn="l">
              <a:defRPr sz="1875" b="0">
                <a:solidFill>
                  <a:srgbClr val="1D2B38"/>
                </a:solidFill>
              </a:defRPr>
            </a:lvl5pPr>
            <a:lvl6pPr algn="l">
              <a:defRPr sz="1875" b="0">
                <a:solidFill>
                  <a:srgbClr val="1D2B38"/>
                </a:solidFill>
              </a:defRPr>
            </a:lvl6pPr>
            <a:lvl7pPr algn="l">
              <a:defRPr sz="1875" b="0">
                <a:solidFill>
                  <a:srgbClr val="1D2B38"/>
                </a:solidFill>
              </a:defRPr>
            </a:lvl7pPr>
            <a:lvl8pPr algn="l">
              <a:defRPr sz="1875" b="0">
                <a:solidFill>
                  <a:srgbClr val="1D2B38"/>
                </a:solidFill>
              </a:defRPr>
            </a:lvl8pPr>
            <a:lvl9pPr algn="l">
              <a:defRPr sz="187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MIME type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File extension</a:t>
            </a:r>
          </a:p>
          <a:p xmlns:a="http://schemas.openxmlformats.org/drawingml/2006/main">
            <a:pPr algn="l">
              <a:defRPr sz="1875" b="0">
                <a:solidFill>
                  <a:srgbClr val="1D2B38"/>
                </a:solidFill>
              </a:defRPr>
            </a:pPr>
            <a:r>
              <a:rPr sz="1875" b="0">
                <a:solidFill>
                  <a:srgbClr val="1D2B38"/>
                </a:solidFill>
              </a:rPr>
              <a:t>Filename length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20980-516B-4E81-8931-327214BC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Targets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2CAE16-854F-4DC4-B4F4-8C25FDC2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457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Size in MB</a:t>
            </a:r>
          </a:p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At least 5 MB: yes or 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72200-DFE3-4FE3-A22B-0BDC464D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552575"/>
            <a:ext cx="1905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BAF22-7157-411D-B18B-480BC2B8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609725"/>
            <a:ext cx="4714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112E4D"/>
                </a:solidFill>
              </a:defRPr>
            </a:defPPr>
            <a:lvl1pPr algn="l">
              <a:defRPr sz="2400" b="1">
                <a:solidFill>
                  <a:srgbClr val="112E4D"/>
                </a:solidFill>
              </a:defRPr>
            </a:lvl1pPr>
            <a:lvl2pPr algn="l">
              <a:defRPr sz="2400" b="1">
                <a:solidFill>
                  <a:srgbClr val="112E4D"/>
                </a:solidFill>
              </a:defRPr>
            </a:lvl2pPr>
            <a:lvl3pPr algn="l">
              <a:defRPr sz="2400" b="1">
                <a:solidFill>
                  <a:srgbClr val="112E4D"/>
                </a:solidFill>
              </a:defRPr>
            </a:lvl3pPr>
            <a:lvl4pPr algn="l">
              <a:defRPr sz="2400" b="1">
                <a:solidFill>
                  <a:srgbClr val="112E4D"/>
                </a:solidFill>
              </a:defRPr>
            </a:lvl4pPr>
            <a:lvl5pPr algn="l">
              <a:defRPr sz="2400" b="1">
                <a:solidFill>
                  <a:srgbClr val="112E4D"/>
                </a:solidFill>
              </a:defRPr>
            </a:lvl5pPr>
            <a:lvl6pPr algn="l">
              <a:defRPr sz="2400" b="1">
                <a:solidFill>
                  <a:srgbClr val="112E4D"/>
                </a:solidFill>
              </a:defRPr>
            </a:lvl6pPr>
            <a:lvl7pPr algn="l">
              <a:defRPr sz="2400" b="1">
                <a:solidFill>
                  <a:srgbClr val="112E4D"/>
                </a:solidFill>
              </a:defRPr>
            </a:lvl7pPr>
            <a:lvl8pPr algn="l">
              <a:defRPr sz="2400" b="1">
                <a:solidFill>
                  <a:srgbClr val="112E4D"/>
                </a:solidFill>
              </a:defRPr>
            </a:lvl8pPr>
            <a:lvl9pPr algn="l">
              <a:defRPr sz="24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12E4D"/>
                </a:solidFill>
              </a:defRPr>
            </a:pPr>
            <a:r>
              <a:rPr sz="2400" b="1">
                <a:solidFill>
                  <a:srgbClr val="112E4D"/>
                </a:solidFill>
              </a:rPr>
              <a:t>75%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1FB03-3CA4-422F-B9CE-E7A219E0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19325"/>
            <a:ext cx="4667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526577"/>
                </a:solidFill>
              </a:defRPr>
            </a:defPPr>
            <a:lvl1pPr algn="l">
              <a:defRPr sz="1800" b="0">
                <a:solidFill>
                  <a:srgbClr val="526577"/>
                </a:solidFill>
              </a:defRPr>
            </a:lvl1pPr>
            <a:lvl2pPr algn="l">
              <a:defRPr sz="1800" b="0">
                <a:solidFill>
                  <a:srgbClr val="526577"/>
                </a:solidFill>
              </a:defRPr>
            </a:lvl2pPr>
            <a:lvl3pPr algn="l">
              <a:defRPr sz="1800" b="0">
                <a:solidFill>
                  <a:srgbClr val="526577"/>
                </a:solidFill>
              </a:defRPr>
            </a:lvl3pPr>
            <a:lvl4pPr algn="l">
              <a:defRPr sz="1800" b="0">
                <a:solidFill>
                  <a:srgbClr val="526577"/>
                </a:solidFill>
              </a:defRPr>
            </a:lvl4pPr>
            <a:lvl5pPr algn="l">
              <a:defRPr sz="1800" b="0">
                <a:solidFill>
                  <a:srgbClr val="526577"/>
                </a:solidFill>
              </a:defRPr>
            </a:lvl5pPr>
            <a:lvl6pPr algn="l">
              <a:defRPr sz="1800" b="0">
                <a:solidFill>
                  <a:srgbClr val="526577"/>
                </a:solidFill>
              </a:defRPr>
            </a:lvl6pPr>
            <a:lvl7pPr algn="l">
              <a:defRPr sz="1800" b="0">
                <a:solidFill>
                  <a:srgbClr val="526577"/>
                </a:solidFill>
              </a:defRPr>
            </a:lvl7pPr>
            <a:lvl8pPr algn="l">
              <a:defRPr sz="1800" b="0">
                <a:solidFill>
                  <a:srgbClr val="526577"/>
                </a:solidFill>
              </a:defRPr>
            </a:lvl8pPr>
            <a:lvl9pPr algn="l">
              <a:defRPr sz="180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577"/>
                </a:solidFill>
              </a:defRPr>
            </a:pPr>
            <a:r>
              <a:rPr sz="1800" b="0">
                <a:solidFill>
                  <a:srgbClr val="526577"/>
                </a:solidFill>
              </a:rPr>
              <a:t>450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8800E7-2456-461C-B391-CE32ED04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43275"/>
            <a:ext cx="4714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112E4D"/>
                </a:solidFill>
              </a:defRPr>
            </a:defPPr>
            <a:lvl1pPr algn="l">
              <a:defRPr sz="2400" b="1">
                <a:solidFill>
                  <a:srgbClr val="112E4D"/>
                </a:solidFill>
              </a:defRPr>
            </a:lvl1pPr>
            <a:lvl2pPr algn="l">
              <a:defRPr sz="2400" b="1">
                <a:solidFill>
                  <a:srgbClr val="112E4D"/>
                </a:solidFill>
              </a:defRPr>
            </a:lvl2pPr>
            <a:lvl3pPr algn="l">
              <a:defRPr sz="2400" b="1">
                <a:solidFill>
                  <a:srgbClr val="112E4D"/>
                </a:solidFill>
              </a:defRPr>
            </a:lvl3pPr>
            <a:lvl4pPr algn="l">
              <a:defRPr sz="2400" b="1">
                <a:solidFill>
                  <a:srgbClr val="112E4D"/>
                </a:solidFill>
              </a:defRPr>
            </a:lvl4pPr>
            <a:lvl5pPr algn="l">
              <a:defRPr sz="2400" b="1">
                <a:solidFill>
                  <a:srgbClr val="112E4D"/>
                </a:solidFill>
              </a:defRPr>
            </a:lvl5pPr>
            <a:lvl6pPr algn="l">
              <a:defRPr sz="2400" b="1">
                <a:solidFill>
                  <a:srgbClr val="112E4D"/>
                </a:solidFill>
              </a:defRPr>
            </a:lvl6pPr>
            <a:lvl7pPr algn="l">
              <a:defRPr sz="2400" b="1">
                <a:solidFill>
                  <a:srgbClr val="112E4D"/>
                </a:solidFill>
              </a:defRPr>
            </a:lvl7pPr>
            <a:lvl8pPr algn="l">
              <a:defRPr sz="2400" b="1">
                <a:solidFill>
                  <a:srgbClr val="112E4D"/>
                </a:solidFill>
              </a:defRPr>
            </a:lvl8pPr>
            <a:lvl9pPr algn="l">
              <a:defRPr sz="24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12E4D"/>
                </a:solidFill>
              </a:defRPr>
            </a:pPr>
            <a:r>
              <a:rPr sz="2400" b="1">
                <a:solidFill>
                  <a:srgbClr val="112E4D"/>
                </a:solidFill>
              </a:rPr>
              <a:t>25% held-out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CADED8-1C2A-42A6-A10F-1FABB399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952875"/>
            <a:ext cx="4667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526577"/>
                </a:solidFill>
              </a:defRPr>
            </a:defPPr>
            <a:lvl1pPr algn="l">
              <a:defRPr sz="1800" b="0">
                <a:solidFill>
                  <a:srgbClr val="526577"/>
                </a:solidFill>
              </a:defRPr>
            </a:lvl1pPr>
            <a:lvl2pPr algn="l">
              <a:defRPr sz="1800" b="0">
                <a:solidFill>
                  <a:srgbClr val="526577"/>
                </a:solidFill>
              </a:defRPr>
            </a:lvl2pPr>
            <a:lvl3pPr algn="l">
              <a:defRPr sz="1800" b="0">
                <a:solidFill>
                  <a:srgbClr val="526577"/>
                </a:solidFill>
              </a:defRPr>
            </a:lvl3pPr>
            <a:lvl4pPr algn="l">
              <a:defRPr sz="1800" b="0">
                <a:solidFill>
                  <a:srgbClr val="526577"/>
                </a:solidFill>
              </a:defRPr>
            </a:lvl4pPr>
            <a:lvl5pPr algn="l">
              <a:defRPr sz="1800" b="0">
                <a:solidFill>
                  <a:srgbClr val="526577"/>
                </a:solidFill>
              </a:defRPr>
            </a:lvl5pPr>
            <a:lvl6pPr algn="l">
              <a:defRPr sz="1800" b="0">
                <a:solidFill>
                  <a:srgbClr val="526577"/>
                </a:solidFill>
              </a:defRPr>
            </a:lvl6pPr>
            <a:lvl7pPr algn="l">
              <a:defRPr sz="1800" b="0">
                <a:solidFill>
                  <a:srgbClr val="526577"/>
                </a:solidFill>
              </a:defRPr>
            </a:lvl7pPr>
            <a:lvl8pPr algn="l">
              <a:defRPr sz="1800" b="0">
                <a:solidFill>
                  <a:srgbClr val="526577"/>
                </a:solidFill>
              </a:defRPr>
            </a:lvl8pPr>
            <a:lvl9pPr algn="l">
              <a:defRPr sz="180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577"/>
                </a:solidFill>
              </a:defRPr>
            </a:pPr>
            <a:r>
              <a:rPr sz="1800" b="0">
                <a:solidFill>
                  <a:srgbClr val="526577"/>
                </a:solidFill>
              </a:rPr>
              <a:t>150 records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19E8D-E1B2-4E60-AA1B-0D6C755B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143500"/>
            <a:ext cx="471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287A77"/>
                </a:solidFill>
              </a:defRPr>
            </a:defPPr>
            <a:lvl1pPr algn="l">
              <a:defRPr sz="1500" b="1">
                <a:solidFill>
                  <a:srgbClr val="287A77"/>
                </a:solidFill>
              </a:defRPr>
            </a:lvl1pPr>
            <a:lvl2pPr algn="l">
              <a:defRPr sz="1500" b="1">
                <a:solidFill>
                  <a:srgbClr val="287A77"/>
                </a:solidFill>
              </a:defRPr>
            </a:lvl2pPr>
            <a:lvl3pPr algn="l">
              <a:defRPr sz="1500" b="1">
                <a:solidFill>
                  <a:srgbClr val="287A77"/>
                </a:solidFill>
              </a:defRPr>
            </a:lvl3pPr>
            <a:lvl4pPr algn="l">
              <a:defRPr sz="1500" b="1">
                <a:solidFill>
                  <a:srgbClr val="287A77"/>
                </a:solidFill>
              </a:defRPr>
            </a:lvl4pPr>
            <a:lvl5pPr algn="l">
              <a:defRPr sz="1500" b="1">
                <a:solidFill>
                  <a:srgbClr val="287A77"/>
                </a:solidFill>
              </a:defRPr>
            </a:lvl5pPr>
            <a:lvl6pPr algn="l">
              <a:defRPr sz="1500" b="1">
                <a:solidFill>
                  <a:srgbClr val="287A77"/>
                </a:solidFill>
              </a:defRPr>
            </a:lvl6pPr>
            <a:lvl7pPr algn="l">
              <a:defRPr sz="1500" b="1">
                <a:solidFill>
                  <a:srgbClr val="287A77"/>
                </a:solidFill>
              </a:defRPr>
            </a:lvl7pPr>
            <a:lvl8pPr algn="l">
              <a:defRPr sz="1500" b="1">
                <a:solidFill>
                  <a:srgbClr val="287A77"/>
                </a:solidFill>
              </a:defRPr>
            </a:lvl8pPr>
            <a:lvl9pPr algn="l">
              <a:defRPr sz="1500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87A77"/>
                </a:solidFill>
              </a:defRPr>
            </a:pPr>
            <a:r>
              <a:rPr sz="1500" b="1">
                <a:solidFill>
                  <a:srgbClr val="287A77"/>
                </a:solidFill>
              </a:rPr>
              <a:t>Stratified by size class</a:t>
            </a:r>
          </a:p>
        </p:txBody>
      </p:sp>
    </p:spTree>
    <p:extLst>
      <p:ext uri="{BB962C8B-B14F-4D97-AF65-F5344CB8AC3E}">
        <p14:creationId xmlns:p14="http://schemas.microsoft.com/office/powerpoint/2010/main" val="18094067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A212E-7EEC-4538-8F8C-3AC8971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59BCF-2BBC-45FA-8E98-EBBCF414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CDE9D-2C0D-40FE-9393-FBC9B108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26C44-5671-4E63-A1B2-89352678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413485-1B3F-4B75-B9A6-4C83F6B9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4857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112E4D"/>
                </a:solidFill>
              </a:defRPr>
            </a:defPPr>
            <a:lvl1pPr algn="l">
              <a:defRPr sz="2400" b="1">
                <a:solidFill>
                  <a:srgbClr val="112E4D"/>
                </a:solidFill>
              </a:defRPr>
            </a:lvl1pPr>
            <a:lvl2pPr algn="l">
              <a:defRPr sz="2400" b="1">
                <a:solidFill>
                  <a:srgbClr val="112E4D"/>
                </a:solidFill>
              </a:defRPr>
            </a:lvl2pPr>
            <a:lvl3pPr algn="l">
              <a:defRPr sz="2400" b="1">
                <a:solidFill>
                  <a:srgbClr val="112E4D"/>
                </a:solidFill>
              </a:defRPr>
            </a:lvl3pPr>
            <a:lvl4pPr algn="l">
              <a:defRPr sz="2400" b="1">
                <a:solidFill>
                  <a:srgbClr val="112E4D"/>
                </a:solidFill>
              </a:defRPr>
            </a:lvl4pPr>
            <a:lvl5pPr algn="l">
              <a:defRPr sz="2400" b="1">
                <a:solidFill>
                  <a:srgbClr val="112E4D"/>
                </a:solidFill>
              </a:defRPr>
            </a:lvl5pPr>
            <a:lvl6pPr algn="l">
              <a:defRPr sz="2400" b="1">
                <a:solidFill>
                  <a:srgbClr val="112E4D"/>
                </a:solidFill>
              </a:defRPr>
            </a:lvl6pPr>
            <a:lvl7pPr algn="l">
              <a:defRPr sz="2400" b="1">
                <a:solidFill>
                  <a:srgbClr val="112E4D"/>
                </a:solidFill>
              </a:defRPr>
            </a:lvl7pPr>
            <a:lvl8pPr algn="l">
              <a:defRPr sz="2400" b="1">
                <a:solidFill>
                  <a:srgbClr val="112E4D"/>
                </a:solidFill>
              </a:defRPr>
            </a:lvl8pPr>
            <a:lvl9pPr algn="l">
              <a:defRPr sz="24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12E4D"/>
                </a:solidFill>
              </a:defRPr>
            </a:pPr>
            <a:r>
              <a:rPr sz="2400" b="1">
                <a:solidFill>
                  <a:srgbClr val="112E4D"/>
                </a:solidFill>
              </a:rPr>
              <a:t>Random Forest Regressor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EFE66-6549-4611-BC38-9A608402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Predicts file size in MB from metadata.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E3748-96A3-44D1-8879-59C4B97C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95450"/>
            <a:ext cx="4857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112E4D"/>
                </a:solidFill>
              </a:defRPr>
            </a:defPPr>
            <a:lvl1pPr algn="l">
              <a:defRPr sz="2400" b="1">
                <a:solidFill>
                  <a:srgbClr val="112E4D"/>
                </a:solidFill>
              </a:defRPr>
            </a:lvl1pPr>
            <a:lvl2pPr algn="l">
              <a:defRPr sz="2400" b="1">
                <a:solidFill>
                  <a:srgbClr val="112E4D"/>
                </a:solidFill>
              </a:defRPr>
            </a:lvl2pPr>
            <a:lvl3pPr algn="l">
              <a:defRPr sz="2400" b="1">
                <a:solidFill>
                  <a:srgbClr val="112E4D"/>
                </a:solidFill>
              </a:defRPr>
            </a:lvl3pPr>
            <a:lvl4pPr algn="l">
              <a:defRPr sz="2400" b="1">
                <a:solidFill>
                  <a:srgbClr val="112E4D"/>
                </a:solidFill>
              </a:defRPr>
            </a:lvl4pPr>
            <a:lvl5pPr algn="l">
              <a:defRPr sz="2400" b="1">
                <a:solidFill>
                  <a:srgbClr val="112E4D"/>
                </a:solidFill>
              </a:defRPr>
            </a:lvl5pPr>
            <a:lvl6pPr algn="l">
              <a:defRPr sz="2400" b="1">
                <a:solidFill>
                  <a:srgbClr val="112E4D"/>
                </a:solidFill>
              </a:defRPr>
            </a:lvl6pPr>
            <a:lvl7pPr algn="l">
              <a:defRPr sz="2400" b="1">
                <a:solidFill>
                  <a:srgbClr val="112E4D"/>
                </a:solidFill>
              </a:defRPr>
            </a:lvl7pPr>
            <a:lvl8pPr algn="l">
              <a:defRPr sz="2400" b="1">
                <a:solidFill>
                  <a:srgbClr val="112E4D"/>
                </a:solidFill>
              </a:defRPr>
            </a:lvl8pPr>
            <a:lvl9pPr algn="l">
              <a:defRPr sz="24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12E4D"/>
                </a:solidFill>
              </a:defRPr>
            </a:pPr>
            <a:r>
              <a:rPr sz="2400" b="1">
                <a:solidFill>
                  <a:srgbClr val="112E4D"/>
                </a:solidFill>
              </a:rPr>
              <a:t>Random Forest Classifier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0BFAD-BE2B-4FF1-A61C-51583D40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4667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Predicts whether a file is at least 5 MB.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99B83-1205-4AB1-B5EF-46BAA78D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1905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0F7BC9-F6B4-47B2-B4EA-1452757B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1038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Both pipelines use 150 trees, maximum depth 8 and minimum leaf size 3. The classifier uses balanced class weights.</a:t>
            </a:r>
          </a:p>
        </p:txBody>
      </p:sp>
    </p:spTree>
    <p:extLst>
      <p:ext uri="{BB962C8B-B14F-4D97-AF65-F5344CB8AC3E}">
        <p14:creationId xmlns:p14="http://schemas.microsoft.com/office/powerpoint/2010/main" val="3208177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A13CC-DEFE-47E2-876A-E73D5B30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Regression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54800-D368-4E63-ABED-5AC2872D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7227B-E584-46B2-98CF-FD79FE3C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A324D-B795-4031-9CC7-A0E83CB1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32F38-E96D-49FA-AF99-6FC5D38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287A77"/>
                </a:solidFill>
              </a:defRPr>
            </a:defPPr>
            <a:lvl1pPr algn="l">
              <a:defRPr sz="1800" b="1">
                <a:solidFill>
                  <a:srgbClr val="287A77"/>
                </a:solidFill>
              </a:defRPr>
            </a:lvl1pPr>
            <a:lvl2pPr algn="l">
              <a:defRPr sz="1800" b="1">
                <a:solidFill>
                  <a:srgbClr val="287A77"/>
                </a:solidFill>
              </a:defRPr>
            </a:lvl2pPr>
            <a:lvl3pPr algn="l">
              <a:defRPr sz="1800" b="1">
                <a:solidFill>
                  <a:srgbClr val="287A77"/>
                </a:solidFill>
              </a:defRPr>
            </a:lvl3pPr>
            <a:lvl4pPr algn="l">
              <a:defRPr sz="1800" b="1">
                <a:solidFill>
                  <a:srgbClr val="287A77"/>
                </a:solidFill>
              </a:defRPr>
            </a:lvl4pPr>
            <a:lvl5pPr algn="l">
              <a:defRPr sz="1800" b="1">
                <a:solidFill>
                  <a:srgbClr val="287A77"/>
                </a:solidFill>
              </a:defRPr>
            </a:lvl5pPr>
            <a:lvl6pPr algn="l">
              <a:defRPr sz="1800" b="1">
                <a:solidFill>
                  <a:srgbClr val="287A77"/>
                </a:solidFill>
              </a:defRPr>
            </a:lvl6pPr>
            <a:lvl7pPr algn="l">
              <a:defRPr sz="1800" b="1">
                <a:solidFill>
                  <a:srgbClr val="287A77"/>
                </a:solidFill>
              </a:defRPr>
            </a:lvl7pPr>
            <a:lvl8pPr algn="l">
              <a:defRPr sz="1800" b="1">
                <a:solidFill>
                  <a:srgbClr val="287A77"/>
                </a:solidFill>
              </a:defRPr>
            </a:lvl8pPr>
            <a:lvl9pPr algn="l">
              <a:defRPr sz="1800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7A77"/>
                </a:solidFill>
              </a:defRPr>
            </a:pPr>
            <a:r>
              <a:rPr sz="1800" b="1">
                <a:solidFill>
                  <a:srgbClr val="287A77"/>
                </a:solidFill>
              </a:rPr>
              <a:t>R²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2D71C-9123-47C6-AD0E-1D115801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5238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6900" b="1">
                <a:solidFill>
                  <a:srgbClr val="112E4D"/>
                </a:solidFill>
              </a:defRPr>
            </a:defPPr>
            <a:lvl1pPr algn="l">
              <a:defRPr sz="6900" b="1">
                <a:solidFill>
                  <a:srgbClr val="112E4D"/>
                </a:solidFill>
              </a:defRPr>
            </a:lvl1pPr>
            <a:lvl2pPr algn="l">
              <a:defRPr sz="6900" b="1">
                <a:solidFill>
                  <a:srgbClr val="112E4D"/>
                </a:solidFill>
              </a:defRPr>
            </a:lvl2pPr>
            <a:lvl3pPr algn="l">
              <a:defRPr sz="6900" b="1">
                <a:solidFill>
                  <a:srgbClr val="112E4D"/>
                </a:solidFill>
              </a:defRPr>
            </a:lvl3pPr>
            <a:lvl4pPr algn="l">
              <a:defRPr sz="6900" b="1">
                <a:solidFill>
                  <a:srgbClr val="112E4D"/>
                </a:solidFill>
              </a:defRPr>
            </a:lvl4pPr>
            <a:lvl5pPr algn="l">
              <a:defRPr sz="6900" b="1">
                <a:solidFill>
                  <a:srgbClr val="112E4D"/>
                </a:solidFill>
              </a:defRPr>
            </a:lvl5pPr>
            <a:lvl6pPr algn="l">
              <a:defRPr sz="6900" b="1">
                <a:solidFill>
                  <a:srgbClr val="112E4D"/>
                </a:solidFill>
              </a:defRPr>
            </a:lvl6pPr>
            <a:lvl7pPr algn="l">
              <a:defRPr sz="6900" b="1">
                <a:solidFill>
                  <a:srgbClr val="112E4D"/>
                </a:solidFill>
              </a:defRPr>
            </a:lvl7pPr>
            <a:lvl8pPr algn="l">
              <a:defRPr sz="6900" b="1">
                <a:solidFill>
                  <a:srgbClr val="112E4D"/>
                </a:solidFill>
              </a:defRPr>
            </a:lvl8pPr>
            <a:lvl9pPr algn="l">
              <a:defRPr sz="69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6900" b="1">
                <a:solidFill>
                  <a:srgbClr val="112E4D"/>
                </a:solidFill>
              </a:defRPr>
            </a:pPr>
            <a:r>
              <a:rPr sz="6900" b="1">
                <a:solidFill>
                  <a:srgbClr val="112E4D"/>
                </a:solidFill>
              </a:rPr>
              <a:t>0.5681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9E100-41DC-43EA-B426-BECE576D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81425"/>
            <a:ext cx="504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Explains about 57% of size variation in the synthetic held-out set.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051B9-5B05-4C62-8F62-DE2A708C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52575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C6C1C-1C21-4B02-8805-AC9B4B43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5430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287A77"/>
                </a:solidFill>
              </a:defRPr>
            </a:defPPr>
            <a:lvl1pPr algn="l">
              <a:defRPr sz="1800" b="1">
                <a:solidFill>
                  <a:srgbClr val="287A77"/>
                </a:solidFill>
              </a:defRPr>
            </a:lvl1pPr>
            <a:lvl2pPr algn="l">
              <a:defRPr sz="1800" b="1">
                <a:solidFill>
                  <a:srgbClr val="287A77"/>
                </a:solidFill>
              </a:defRPr>
            </a:lvl2pPr>
            <a:lvl3pPr algn="l">
              <a:defRPr sz="1800" b="1">
                <a:solidFill>
                  <a:srgbClr val="287A77"/>
                </a:solidFill>
              </a:defRPr>
            </a:lvl3pPr>
            <a:lvl4pPr algn="l">
              <a:defRPr sz="1800" b="1">
                <a:solidFill>
                  <a:srgbClr val="287A77"/>
                </a:solidFill>
              </a:defRPr>
            </a:lvl4pPr>
            <a:lvl5pPr algn="l">
              <a:defRPr sz="1800" b="1">
                <a:solidFill>
                  <a:srgbClr val="287A77"/>
                </a:solidFill>
              </a:defRPr>
            </a:lvl5pPr>
            <a:lvl6pPr algn="l">
              <a:defRPr sz="1800" b="1">
                <a:solidFill>
                  <a:srgbClr val="287A77"/>
                </a:solidFill>
              </a:defRPr>
            </a:lvl6pPr>
            <a:lvl7pPr algn="l">
              <a:defRPr sz="1800" b="1">
                <a:solidFill>
                  <a:srgbClr val="287A77"/>
                </a:solidFill>
              </a:defRPr>
            </a:lvl7pPr>
            <a:lvl8pPr algn="l">
              <a:defRPr sz="1800" b="1">
                <a:solidFill>
                  <a:srgbClr val="287A77"/>
                </a:solidFill>
              </a:defRPr>
            </a:lvl8pPr>
            <a:lvl9pPr algn="l">
              <a:defRPr sz="1800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7A77"/>
                </a:solidFill>
              </a:defRPr>
            </a:pPr>
            <a:r>
              <a:rPr sz="1800" b="1">
                <a:solidFill>
                  <a:srgbClr val="287A77"/>
                </a:solidFill>
              </a:rPr>
              <a:t>Mean absolute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46DB80-C998-4CF6-AB80-767D2032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14550"/>
            <a:ext cx="452437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625" b="1">
                <a:solidFill>
                  <a:srgbClr val="112E4D"/>
                </a:solidFill>
              </a:defRPr>
            </a:defPPr>
            <a:lvl1pPr algn="l">
              <a:defRPr sz="5625" b="1">
                <a:solidFill>
                  <a:srgbClr val="112E4D"/>
                </a:solidFill>
              </a:defRPr>
            </a:lvl1pPr>
            <a:lvl2pPr algn="l">
              <a:defRPr sz="5625" b="1">
                <a:solidFill>
                  <a:srgbClr val="112E4D"/>
                </a:solidFill>
              </a:defRPr>
            </a:lvl2pPr>
            <a:lvl3pPr algn="l">
              <a:defRPr sz="5625" b="1">
                <a:solidFill>
                  <a:srgbClr val="112E4D"/>
                </a:solidFill>
              </a:defRPr>
            </a:lvl3pPr>
            <a:lvl4pPr algn="l">
              <a:defRPr sz="5625" b="1">
                <a:solidFill>
                  <a:srgbClr val="112E4D"/>
                </a:solidFill>
              </a:defRPr>
            </a:lvl4pPr>
            <a:lvl5pPr algn="l">
              <a:defRPr sz="5625" b="1">
                <a:solidFill>
                  <a:srgbClr val="112E4D"/>
                </a:solidFill>
              </a:defRPr>
            </a:lvl5pPr>
            <a:lvl6pPr algn="l">
              <a:defRPr sz="5625" b="1">
                <a:solidFill>
                  <a:srgbClr val="112E4D"/>
                </a:solidFill>
              </a:defRPr>
            </a:lvl6pPr>
            <a:lvl7pPr algn="l">
              <a:defRPr sz="5625" b="1">
                <a:solidFill>
                  <a:srgbClr val="112E4D"/>
                </a:solidFill>
              </a:defRPr>
            </a:lvl7pPr>
            <a:lvl8pPr algn="l">
              <a:defRPr sz="5625" b="1">
                <a:solidFill>
                  <a:srgbClr val="112E4D"/>
                </a:solidFill>
              </a:defRPr>
            </a:lvl8pPr>
            <a:lvl9pPr algn="l">
              <a:defRPr sz="5625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5625" b="1">
                <a:solidFill>
                  <a:srgbClr val="112E4D"/>
                </a:solidFill>
              </a:defRPr>
            </a:pPr>
            <a:r>
              <a:rPr sz="5625" b="1">
                <a:solidFill>
                  <a:srgbClr val="112E4D"/>
                </a:solidFill>
              </a:rPr>
              <a:t>1.71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8F818-1B45-481D-9B0F-FCDD2D5D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81425"/>
            <a:ext cx="4476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Average absolute difference between predicted and actual file size.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EC83DA-60AE-4138-9100-2FB65B5F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388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526577"/>
                </a:solidFill>
              </a:defRPr>
            </a:defPPr>
            <a:lvl1pPr algn="l">
              <a:defRPr sz="1350" b="0">
                <a:solidFill>
                  <a:srgbClr val="526577"/>
                </a:solidFill>
              </a:defRPr>
            </a:lvl1pPr>
            <a:lvl2pPr algn="l">
              <a:defRPr sz="1350" b="0">
                <a:solidFill>
                  <a:srgbClr val="526577"/>
                </a:solidFill>
              </a:defRPr>
            </a:lvl2pPr>
            <a:lvl3pPr algn="l">
              <a:defRPr sz="1350" b="0">
                <a:solidFill>
                  <a:srgbClr val="526577"/>
                </a:solidFill>
              </a:defRPr>
            </a:lvl3pPr>
            <a:lvl4pPr algn="l">
              <a:defRPr sz="1350" b="0">
                <a:solidFill>
                  <a:srgbClr val="526577"/>
                </a:solidFill>
              </a:defRPr>
            </a:lvl4pPr>
            <a:lvl5pPr algn="l">
              <a:defRPr sz="1350" b="0">
                <a:solidFill>
                  <a:srgbClr val="526577"/>
                </a:solidFill>
              </a:defRPr>
            </a:lvl5pPr>
            <a:lvl6pPr algn="l">
              <a:defRPr sz="1350" b="0">
                <a:solidFill>
                  <a:srgbClr val="526577"/>
                </a:solidFill>
              </a:defRPr>
            </a:lvl6pPr>
            <a:lvl7pPr algn="l">
              <a:defRPr sz="1350" b="0">
                <a:solidFill>
                  <a:srgbClr val="526577"/>
                </a:solidFill>
              </a:defRPr>
            </a:lvl7pPr>
            <a:lvl8pPr algn="l">
              <a:defRPr sz="1350" b="0">
                <a:solidFill>
                  <a:srgbClr val="526577"/>
                </a:solidFill>
              </a:defRPr>
            </a:lvl8pPr>
            <a:lvl9pPr algn="l">
              <a:defRPr sz="13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26577"/>
                </a:solidFill>
              </a:defRPr>
            </a:pPr>
            <a:r>
              <a:rPr sz="1350" b="0">
                <a:solidFill>
                  <a:srgbClr val="526577"/>
                </a:solidFill>
              </a:rPr>
              <a:t>Synthetic demo test set: 150 records</a:t>
            </a:r>
          </a:p>
        </p:txBody>
      </p:sp>
    </p:spTree>
    <p:extLst>
      <p:ext uri="{BB962C8B-B14F-4D97-AF65-F5344CB8AC3E}">
        <p14:creationId xmlns:p14="http://schemas.microsoft.com/office/powerpoint/2010/main" val="4405137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5E6A6-0A3E-4DFE-ADA7-E0F01C3E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Classification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EBD7E4-6E59-402D-B1AA-53274220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4AAF3F-AEB4-47D2-803E-409C9C7F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2BE9B-F268-47FC-8C47-9B27D9F6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FC830-5D9C-4A88-8167-75A6525B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14475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526577"/>
                </a:solidFill>
              </a:defRPr>
            </a:defPPr>
            <a:lvl1pPr algn="l">
              <a:defRPr sz="1800" b="0">
                <a:solidFill>
                  <a:srgbClr val="526577"/>
                </a:solidFill>
              </a:defRPr>
            </a:lvl1pPr>
            <a:lvl2pPr algn="l">
              <a:defRPr sz="1800" b="0">
                <a:solidFill>
                  <a:srgbClr val="526577"/>
                </a:solidFill>
              </a:defRPr>
            </a:lvl2pPr>
            <a:lvl3pPr algn="l">
              <a:defRPr sz="1800" b="0">
                <a:solidFill>
                  <a:srgbClr val="526577"/>
                </a:solidFill>
              </a:defRPr>
            </a:lvl3pPr>
            <a:lvl4pPr algn="l">
              <a:defRPr sz="1800" b="0">
                <a:solidFill>
                  <a:srgbClr val="526577"/>
                </a:solidFill>
              </a:defRPr>
            </a:lvl4pPr>
            <a:lvl5pPr algn="l">
              <a:defRPr sz="1800" b="0">
                <a:solidFill>
                  <a:srgbClr val="526577"/>
                </a:solidFill>
              </a:defRPr>
            </a:lvl5pPr>
            <a:lvl6pPr algn="l">
              <a:defRPr sz="1800" b="0">
                <a:solidFill>
                  <a:srgbClr val="526577"/>
                </a:solidFill>
              </a:defRPr>
            </a:lvl6pPr>
            <a:lvl7pPr algn="l">
              <a:defRPr sz="1800" b="0">
                <a:solidFill>
                  <a:srgbClr val="526577"/>
                </a:solidFill>
              </a:defRPr>
            </a:lvl7pPr>
            <a:lvl8pPr algn="l">
              <a:defRPr sz="1800" b="0">
                <a:solidFill>
                  <a:srgbClr val="526577"/>
                </a:solidFill>
              </a:defRPr>
            </a:lvl8pPr>
            <a:lvl9pPr algn="l">
              <a:defRPr sz="180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577"/>
                </a:solidFill>
              </a:defRPr>
            </a:pPr>
            <a:r>
              <a:rPr sz="1800" b="0">
                <a:solidFill>
                  <a:srgbClr val="526577"/>
                </a:solidFill>
              </a:rPr>
              <a:t>Large file means at least 5 MB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25CF880-6B5B-4AE4-B85C-526D36DF3A40}"/>
              </a:ext>
            </a:extLst>
          </p:cNvPr>
          <p:cNvGraphicFramePr/>
          <p:nvPr/>
        </p:nvGraphicFramePr>
        <p:xfrm>
          <a:off xmlns:a="http://schemas.openxmlformats.org/drawingml/2006/main" x="762000" y="2333625"/>
          <a:ext xmlns:a="http://schemas.openxmlformats.org/drawingml/2006/main" cx="1019175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3a7152410c49c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3C7118-54DF-456E-A206-85822710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526577"/>
                </a:solidFill>
              </a:defRPr>
            </a:defPPr>
            <a:lvl1pPr algn="l">
              <a:defRPr sz="1350" b="0">
                <a:solidFill>
                  <a:srgbClr val="526577"/>
                </a:solidFill>
              </a:defRPr>
            </a:lvl1pPr>
            <a:lvl2pPr algn="l">
              <a:defRPr sz="1350" b="0">
                <a:solidFill>
                  <a:srgbClr val="526577"/>
                </a:solidFill>
              </a:defRPr>
            </a:lvl2pPr>
            <a:lvl3pPr algn="l">
              <a:defRPr sz="1350" b="0">
                <a:solidFill>
                  <a:srgbClr val="526577"/>
                </a:solidFill>
              </a:defRPr>
            </a:lvl3pPr>
            <a:lvl4pPr algn="l">
              <a:defRPr sz="1350" b="0">
                <a:solidFill>
                  <a:srgbClr val="526577"/>
                </a:solidFill>
              </a:defRPr>
            </a:lvl4pPr>
            <a:lvl5pPr algn="l">
              <a:defRPr sz="1350" b="0">
                <a:solidFill>
                  <a:srgbClr val="526577"/>
                </a:solidFill>
              </a:defRPr>
            </a:lvl5pPr>
            <a:lvl6pPr algn="l">
              <a:defRPr sz="1350" b="0">
                <a:solidFill>
                  <a:srgbClr val="526577"/>
                </a:solidFill>
              </a:defRPr>
            </a:lvl6pPr>
            <a:lvl7pPr algn="l">
              <a:defRPr sz="1350" b="0">
                <a:solidFill>
                  <a:srgbClr val="526577"/>
                </a:solidFill>
              </a:defRPr>
            </a:lvl7pPr>
            <a:lvl8pPr algn="l">
              <a:defRPr sz="1350" b="0">
                <a:solidFill>
                  <a:srgbClr val="526577"/>
                </a:solidFill>
              </a:defRPr>
            </a:lvl8pPr>
            <a:lvl9pPr algn="l">
              <a:defRPr sz="13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26577"/>
                </a:solidFill>
              </a:defRPr>
            </a:pPr>
            <a:r>
              <a:rPr sz="1350" b="0">
                <a:solidFill>
                  <a:srgbClr val="526577"/>
                </a:solidFill>
              </a:rPr>
              <a:t>Percent on the 150-record synthetic test set</a:t>
            </a:r>
          </a:p>
        </p:txBody>
      </p:sp>
    </p:spTree>
    <p:extLst>
      <p:ext uri="{BB962C8B-B14F-4D97-AF65-F5344CB8AC3E}">
        <p14:creationId xmlns:p14="http://schemas.microsoft.com/office/powerpoint/2010/main" val="2554025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E2812-558F-40E4-BD3A-66D4997C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What the results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FD12B-AA18-4E5A-B791-8450F2A9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C0984-5CD3-4181-8C0C-1672689E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A828D-CE6F-48CA-973B-A9369A52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F5681-8B41-48DA-95CB-77603007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575"/>
            <a:ext cx="471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Demonstrated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4D8E1-18CF-4937-8E40-781A1E69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42912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The PyMongo workflow, preprocessing, model training and evaluation run end to end on a reproducible dataset.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E8BEF-D3B3-422E-B83D-3E95CD25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7162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39C49-6A8D-47DE-BCB7-FF0E3027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5257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C87642"/>
                </a:solidFill>
              </a:defRPr>
            </a:defPPr>
            <a:lvl1pPr algn="l">
              <a:defRPr sz="2025" b="1">
                <a:solidFill>
                  <a:srgbClr val="C87642"/>
                </a:solidFill>
              </a:defRPr>
            </a:lvl1pPr>
            <a:lvl2pPr algn="l">
              <a:defRPr sz="2025" b="1">
                <a:solidFill>
                  <a:srgbClr val="C87642"/>
                </a:solidFill>
              </a:defRPr>
            </a:lvl2pPr>
            <a:lvl3pPr algn="l">
              <a:defRPr sz="2025" b="1">
                <a:solidFill>
                  <a:srgbClr val="C87642"/>
                </a:solidFill>
              </a:defRPr>
            </a:lvl3pPr>
            <a:lvl4pPr algn="l">
              <a:defRPr sz="2025" b="1">
                <a:solidFill>
                  <a:srgbClr val="C87642"/>
                </a:solidFill>
              </a:defRPr>
            </a:lvl4pPr>
            <a:lvl5pPr algn="l">
              <a:defRPr sz="2025" b="1">
                <a:solidFill>
                  <a:srgbClr val="C87642"/>
                </a:solidFill>
              </a:defRPr>
            </a:lvl5pPr>
            <a:lvl6pPr algn="l">
              <a:defRPr sz="2025" b="1">
                <a:solidFill>
                  <a:srgbClr val="C87642"/>
                </a:solidFill>
              </a:defRPr>
            </a:lvl6pPr>
            <a:lvl7pPr algn="l">
              <a:defRPr sz="2025" b="1">
                <a:solidFill>
                  <a:srgbClr val="C87642"/>
                </a:solidFill>
              </a:defRPr>
            </a:lvl7pPr>
            <a:lvl8pPr algn="l">
              <a:defRPr sz="2025" b="1">
                <a:solidFill>
                  <a:srgbClr val="C87642"/>
                </a:solidFill>
              </a:defRPr>
            </a:lvl8pPr>
            <a:lvl9pPr algn="l">
              <a:defRPr sz="2025" b="1">
                <a:solidFill>
                  <a:srgbClr val="C87642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C87642"/>
                </a:solidFill>
              </a:defRPr>
            </a:pPr>
            <a:r>
              <a:rPr sz="2025" b="1">
                <a:solidFill>
                  <a:srgbClr val="C87642"/>
                </a:solidFill>
              </a:rPr>
              <a:t>Still unproven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F6F73-C9E1-4381-931B-05337E49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90750"/>
            <a:ext cx="43338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D2B38"/>
                </a:solidFill>
              </a:defRPr>
            </a:defPPr>
            <a:lvl1pPr algn="l">
              <a:defRPr sz="1800" b="0">
                <a:solidFill>
                  <a:srgbClr val="1D2B38"/>
                </a:solidFill>
              </a:defRPr>
            </a:lvl1pPr>
            <a:lvl2pPr algn="l">
              <a:defRPr sz="1800" b="0">
                <a:solidFill>
                  <a:srgbClr val="1D2B38"/>
                </a:solidFill>
              </a:defRPr>
            </a:lvl2pPr>
            <a:lvl3pPr algn="l">
              <a:defRPr sz="1800" b="0">
                <a:solidFill>
                  <a:srgbClr val="1D2B38"/>
                </a:solidFill>
              </a:defRPr>
            </a:lvl3pPr>
            <a:lvl4pPr algn="l">
              <a:defRPr sz="1800" b="0">
                <a:solidFill>
                  <a:srgbClr val="1D2B38"/>
                </a:solidFill>
              </a:defRPr>
            </a:lvl4pPr>
            <a:lvl5pPr algn="l">
              <a:defRPr sz="1800" b="0">
                <a:solidFill>
                  <a:srgbClr val="1D2B38"/>
                </a:solidFill>
              </a:defRPr>
            </a:lvl5pPr>
            <a:lvl6pPr algn="l">
              <a:defRPr sz="1800" b="0">
                <a:solidFill>
                  <a:srgbClr val="1D2B38"/>
                </a:solidFill>
              </a:defRPr>
            </a:lvl6pPr>
            <a:lvl7pPr algn="l">
              <a:defRPr sz="1800" b="0">
                <a:solidFill>
                  <a:srgbClr val="1D2B38"/>
                </a:solidFill>
              </a:defRPr>
            </a:lvl7pPr>
            <a:lvl8pPr algn="l">
              <a:defRPr sz="1800" b="0">
                <a:solidFill>
                  <a:srgbClr val="1D2B38"/>
                </a:solidFill>
              </a:defRPr>
            </a:lvl8pPr>
            <a:lvl9pPr algn="l">
              <a:defRPr sz="1800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D2B38"/>
                </a:solidFill>
              </a:defRPr>
            </a:pPr>
            <a:r>
              <a:rPr sz="1800" b="0">
                <a:solidFill>
                  <a:srgbClr val="1D2B38"/>
                </a:solidFill>
              </a:rPr>
              <a:t>Performance on real vault data. On 29 October 2026, Atlas had 11 usable file records, with one at least 5 MB. That is below the training threshold.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A6777-D4C6-4BAA-92BF-B84B148B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19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12E4D"/>
                </a:solidFill>
              </a:defRPr>
            </a:defPPr>
            <a:lvl1pPr algn="l">
              <a:defRPr sz="1650" b="1">
                <a:solidFill>
                  <a:srgbClr val="112E4D"/>
                </a:solidFill>
              </a:defRPr>
            </a:lvl1pPr>
            <a:lvl2pPr algn="l">
              <a:defRPr sz="1650" b="1">
                <a:solidFill>
                  <a:srgbClr val="112E4D"/>
                </a:solidFill>
              </a:defRPr>
            </a:lvl2pPr>
            <a:lvl3pPr algn="l">
              <a:defRPr sz="1650" b="1">
                <a:solidFill>
                  <a:srgbClr val="112E4D"/>
                </a:solidFill>
              </a:defRPr>
            </a:lvl3pPr>
            <a:lvl4pPr algn="l">
              <a:defRPr sz="1650" b="1">
                <a:solidFill>
                  <a:srgbClr val="112E4D"/>
                </a:solidFill>
              </a:defRPr>
            </a:lvl4pPr>
            <a:lvl5pPr algn="l">
              <a:defRPr sz="1650" b="1">
                <a:solidFill>
                  <a:srgbClr val="112E4D"/>
                </a:solidFill>
              </a:defRPr>
            </a:lvl5pPr>
            <a:lvl6pPr algn="l">
              <a:defRPr sz="1650" b="1">
                <a:solidFill>
                  <a:srgbClr val="112E4D"/>
                </a:solidFill>
              </a:defRPr>
            </a:lvl6pPr>
            <a:lvl7pPr algn="l">
              <a:defRPr sz="1650" b="1">
                <a:solidFill>
                  <a:srgbClr val="112E4D"/>
                </a:solidFill>
              </a:defRPr>
            </a:lvl7pPr>
            <a:lvl8pPr algn="l">
              <a:defRPr sz="1650" b="1">
                <a:solidFill>
                  <a:srgbClr val="112E4D"/>
                </a:solidFill>
              </a:defRPr>
            </a:lvl8pPr>
            <a:lvl9pPr algn="l">
              <a:defRPr sz="165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12E4D"/>
                </a:solidFill>
              </a:defRPr>
            </a:pPr>
            <a:r>
              <a:rPr sz="1650" b="1">
                <a:solidFill>
                  <a:srgbClr val="112E4D"/>
                </a:solidFill>
              </a:rPr>
              <a:t>The metrics are a demo result, not a production accuracy claim.</a:t>
            </a:r>
          </a:p>
        </p:txBody>
      </p:sp>
    </p:spTree>
    <p:extLst>
      <p:ext uri="{BB962C8B-B14F-4D97-AF65-F5344CB8AC3E}">
        <p14:creationId xmlns:p14="http://schemas.microsoft.com/office/powerpoint/2010/main" val="8339139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7A6C6B-5865-47CD-981C-EC86CB89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112E4D"/>
                </a:solidFill>
              </a:defRPr>
            </a:defPPr>
            <a:lvl1pPr algn="l">
              <a:defRPr sz="2700" b="1">
                <a:solidFill>
                  <a:srgbClr val="112E4D"/>
                </a:solidFill>
              </a:defRPr>
            </a:lvl1pPr>
            <a:lvl2pPr algn="l">
              <a:defRPr sz="2700" b="1">
                <a:solidFill>
                  <a:srgbClr val="112E4D"/>
                </a:solidFill>
              </a:defRPr>
            </a:lvl2pPr>
            <a:lvl3pPr algn="l">
              <a:defRPr sz="2700" b="1">
                <a:solidFill>
                  <a:srgbClr val="112E4D"/>
                </a:solidFill>
              </a:defRPr>
            </a:lvl3pPr>
            <a:lvl4pPr algn="l">
              <a:defRPr sz="2700" b="1">
                <a:solidFill>
                  <a:srgbClr val="112E4D"/>
                </a:solidFill>
              </a:defRPr>
            </a:lvl4pPr>
            <a:lvl5pPr algn="l">
              <a:defRPr sz="2700" b="1">
                <a:solidFill>
                  <a:srgbClr val="112E4D"/>
                </a:solidFill>
              </a:defRPr>
            </a:lvl5pPr>
            <a:lvl6pPr algn="l">
              <a:defRPr sz="2700" b="1">
                <a:solidFill>
                  <a:srgbClr val="112E4D"/>
                </a:solidFill>
              </a:defRPr>
            </a:lvl6pPr>
            <a:lvl7pPr algn="l">
              <a:defRPr sz="2700" b="1">
                <a:solidFill>
                  <a:srgbClr val="112E4D"/>
                </a:solidFill>
              </a:defRPr>
            </a:lvl7pPr>
            <a:lvl8pPr algn="l">
              <a:defRPr sz="2700" b="1">
                <a:solidFill>
                  <a:srgbClr val="112E4D"/>
                </a:solidFill>
              </a:defRPr>
            </a:lvl8pPr>
            <a:lvl9pPr algn="l">
              <a:defRPr sz="2700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2E4D"/>
                </a:solidFill>
              </a:defRPr>
            </a:pPr>
            <a:r>
              <a:rPr sz="2700" b="1">
                <a:solidFill>
                  <a:srgbClr val="112E4D"/>
                </a:solidFill>
              </a:rPr>
              <a:t>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A0CB14-33BB-4CB8-86FB-84D80350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33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255CB-EA61-48E0-AB66-4DD54E94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531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26577"/>
                </a:solidFill>
              </a:defRPr>
            </a:defPPr>
            <a:lvl1pPr algn="l">
              <a:defRPr sz="1050" b="0">
                <a:solidFill>
                  <a:srgbClr val="526577"/>
                </a:solidFill>
              </a:defRPr>
            </a:lvl1pPr>
            <a:lvl2pPr algn="l">
              <a:defRPr sz="1050" b="0">
                <a:solidFill>
                  <a:srgbClr val="526577"/>
                </a:solidFill>
              </a:defRPr>
            </a:lvl2pPr>
            <a:lvl3pPr algn="l">
              <a:defRPr sz="1050" b="0">
                <a:solidFill>
                  <a:srgbClr val="526577"/>
                </a:solidFill>
              </a:defRPr>
            </a:lvl3pPr>
            <a:lvl4pPr algn="l">
              <a:defRPr sz="1050" b="0">
                <a:solidFill>
                  <a:srgbClr val="526577"/>
                </a:solidFill>
              </a:defRPr>
            </a:lvl4pPr>
            <a:lvl5pPr algn="l">
              <a:defRPr sz="1050" b="0">
                <a:solidFill>
                  <a:srgbClr val="526577"/>
                </a:solidFill>
              </a:defRPr>
            </a:lvl5pPr>
            <a:lvl6pPr algn="l">
              <a:defRPr sz="1050" b="0">
                <a:solidFill>
                  <a:srgbClr val="526577"/>
                </a:solidFill>
              </a:defRPr>
            </a:lvl6pPr>
            <a:lvl7pPr algn="l">
              <a:defRPr sz="1050" b="0">
                <a:solidFill>
                  <a:srgbClr val="526577"/>
                </a:solidFill>
              </a:defRPr>
            </a:lvl7pPr>
            <a:lvl8pPr algn="l">
              <a:defRPr sz="1050" b="0">
                <a:solidFill>
                  <a:srgbClr val="526577"/>
                </a:solidFill>
              </a:defRPr>
            </a:lvl8pPr>
            <a:lvl9pPr algn="l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VaultX  /  MongoDB course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B04F5-364E-4940-876D-26171D69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526577"/>
                </a:solidFill>
              </a:defRPr>
            </a:defPPr>
            <a:lvl1pPr algn="r">
              <a:defRPr sz="1050" b="0">
                <a:solidFill>
                  <a:srgbClr val="526577"/>
                </a:solidFill>
              </a:defRPr>
            </a:lvl1pPr>
            <a:lvl2pPr algn="r">
              <a:defRPr sz="1050" b="0">
                <a:solidFill>
                  <a:srgbClr val="526577"/>
                </a:solidFill>
              </a:defRPr>
            </a:lvl2pPr>
            <a:lvl3pPr algn="r">
              <a:defRPr sz="1050" b="0">
                <a:solidFill>
                  <a:srgbClr val="526577"/>
                </a:solidFill>
              </a:defRPr>
            </a:lvl3pPr>
            <a:lvl4pPr algn="r">
              <a:defRPr sz="1050" b="0">
                <a:solidFill>
                  <a:srgbClr val="526577"/>
                </a:solidFill>
              </a:defRPr>
            </a:lvl4pPr>
            <a:lvl5pPr algn="r">
              <a:defRPr sz="1050" b="0">
                <a:solidFill>
                  <a:srgbClr val="526577"/>
                </a:solidFill>
              </a:defRPr>
            </a:lvl5pPr>
            <a:lvl6pPr algn="r">
              <a:defRPr sz="1050" b="0">
                <a:solidFill>
                  <a:srgbClr val="526577"/>
                </a:solidFill>
              </a:defRPr>
            </a:lvl6pPr>
            <a:lvl7pPr algn="r">
              <a:defRPr sz="1050" b="0">
                <a:solidFill>
                  <a:srgbClr val="526577"/>
                </a:solidFill>
              </a:defRPr>
            </a:lvl7pPr>
            <a:lvl8pPr algn="r">
              <a:defRPr sz="1050" b="0">
                <a:solidFill>
                  <a:srgbClr val="526577"/>
                </a:solidFill>
              </a:defRPr>
            </a:lvl8pPr>
            <a:lvl9pPr algn="r">
              <a:defRPr sz="1050" b="0">
                <a:solidFill>
                  <a:srgbClr val="526577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526577"/>
                </a:solidFill>
              </a:defRPr>
            </a:pPr>
            <a:r>
              <a:rPr sz="1050" b="0">
                <a:solidFill>
                  <a:srgbClr val="526577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8EEDE-8FF0-4E93-9B93-C4073FC3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972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625" b="1">
                <a:solidFill>
                  <a:srgbClr val="112E4D"/>
                </a:solidFill>
              </a:defRPr>
            </a:defPPr>
            <a:lvl1pPr algn="l">
              <a:defRPr sz="2625" b="1">
                <a:solidFill>
                  <a:srgbClr val="112E4D"/>
                </a:solidFill>
              </a:defRPr>
            </a:lvl1pPr>
            <a:lvl2pPr algn="l">
              <a:defRPr sz="2625" b="1">
                <a:solidFill>
                  <a:srgbClr val="112E4D"/>
                </a:solidFill>
              </a:defRPr>
            </a:lvl2pPr>
            <a:lvl3pPr algn="l">
              <a:defRPr sz="2625" b="1">
                <a:solidFill>
                  <a:srgbClr val="112E4D"/>
                </a:solidFill>
              </a:defRPr>
            </a:lvl3pPr>
            <a:lvl4pPr algn="l">
              <a:defRPr sz="2625" b="1">
                <a:solidFill>
                  <a:srgbClr val="112E4D"/>
                </a:solidFill>
              </a:defRPr>
            </a:lvl4pPr>
            <a:lvl5pPr algn="l">
              <a:defRPr sz="2625" b="1">
                <a:solidFill>
                  <a:srgbClr val="112E4D"/>
                </a:solidFill>
              </a:defRPr>
            </a:lvl5pPr>
            <a:lvl6pPr algn="l">
              <a:defRPr sz="2625" b="1">
                <a:solidFill>
                  <a:srgbClr val="112E4D"/>
                </a:solidFill>
              </a:defRPr>
            </a:lvl6pPr>
            <a:lvl7pPr algn="l">
              <a:defRPr sz="2625" b="1">
                <a:solidFill>
                  <a:srgbClr val="112E4D"/>
                </a:solidFill>
              </a:defRPr>
            </a:lvl7pPr>
            <a:lvl8pPr algn="l">
              <a:defRPr sz="2625" b="1">
                <a:solidFill>
                  <a:srgbClr val="112E4D"/>
                </a:solidFill>
              </a:defRPr>
            </a:lvl8pPr>
            <a:lvl9pPr algn="l">
              <a:defRPr sz="2625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12E4D"/>
                </a:solidFill>
              </a:defRPr>
            </a:pPr>
            <a:r>
              <a:rPr sz="2625" b="1">
                <a:solidFill>
                  <a:srgbClr val="112E4D"/>
                </a:solidFill>
              </a:rPr>
              <a:t>MongoDB supports both file management and reproducible metadata analysis.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09BA6-0104-4595-BBEB-D35E4355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5048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287A77"/>
                </a:solidFill>
              </a:defRPr>
            </a:defPPr>
            <a:lvl1pPr algn="l">
              <a:defRPr sz="2025" b="1">
                <a:solidFill>
                  <a:srgbClr val="287A77"/>
                </a:solidFill>
              </a:defRPr>
            </a:lvl1pPr>
            <a:lvl2pPr algn="l">
              <a:defRPr sz="2025" b="1">
                <a:solidFill>
                  <a:srgbClr val="287A77"/>
                </a:solidFill>
              </a:defRPr>
            </a:lvl2pPr>
            <a:lvl3pPr algn="l">
              <a:defRPr sz="2025" b="1">
                <a:solidFill>
                  <a:srgbClr val="287A77"/>
                </a:solidFill>
              </a:defRPr>
            </a:lvl3pPr>
            <a:lvl4pPr algn="l">
              <a:defRPr sz="2025" b="1">
                <a:solidFill>
                  <a:srgbClr val="287A77"/>
                </a:solidFill>
              </a:defRPr>
            </a:lvl4pPr>
            <a:lvl5pPr algn="l">
              <a:defRPr sz="2025" b="1">
                <a:solidFill>
                  <a:srgbClr val="287A77"/>
                </a:solidFill>
              </a:defRPr>
            </a:lvl5pPr>
            <a:lvl6pPr algn="l">
              <a:defRPr sz="2025" b="1">
                <a:solidFill>
                  <a:srgbClr val="287A77"/>
                </a:solidFill>
              </a:defRPr>
            </a:lvl6pPr>
            <a:lvl7pPr algn="l">
              <a:defRPr sz="2025" b="1">
                <a:solidFill>
                  <a:srgbClr val="287A77"/>
                </a:solidFill>
              </a:defRPr>
            </a:lvl7pPr>
            <a:lvl8pPr algn="l">
              <a:defRPr sz="2025" b="1">
                <a:solidFill>
                  <a:srgbClr val="287A77"/>
                </a:solidFill>
              </a:defRPr>
            </a:lvl8pPr>
            <a:lvl9pPr algn="l">
              <a:defRPr sz="2025" b="1">
                <a:solidFill>
                  <a:srgbClr val="287A77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7A77"/>
                </a:solidFill>
              </a:defRPr>
            </a:pPr>
            <a:r>
              <a:rPr sz="2025" b="1">
                <a:solidFill>
                  <a:srgbClr val="287A77"/>
                </a:solidFill>
              </a:rPr>
              <a:t>What is complete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65CF7-08C9-4E0B-8B90-C4A2CB96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4953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Indexed collections, PyMongo aggregation, two trained models and six evaluation metrics.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514D8-4B09-4BAE-A99B-F660A6AB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19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2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E7BF6-2A89-4471-BC7C-73BB5611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24200"/>
            <a:ext cx="4429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C87642"/>
                </a:solidFill>
              </a:defRPr>
            </a:defPPr>
            <a:lvl1pPr algn="l">
              <a:defRPr sz="2025" b="1">
                <a:solidFill>
                  <a:srgbClr val="C87642"/>
                </a:solidFill>
              </a:defRPr>
            </a:lvl1pPr>
            <a:lvl2pPr algn="l">
              <a:defRPr sz="2025" b="1">
                <a:solidFill>
                  <a:srgbClr val="C87642"/>
                </a:solidFill>
              </a:defRPr>
            </a:lvl2pPr>
            <a:lvl3pPr algn="l">
              <a:defRPr sz="2025" b="1">
                <a:solidFill>
                  <a:srgbClr val="C87642"/>
                </a:solidFill>
              </a:defRPr>
            </a:lvl3pPr>
            <a:lvl4pPr algn="l">
              <a:defRPr sz="2025" b="1">
                <a:solidFill>
                  <a:srgbClr val="C87642"/>
                </a:solidFill>
              </a:defRPr>
            </a:lvl4pPr>
            <a:lvl5pPr algn="l">
              <a:defRPr sz="2025" b="1">
                <a:solidFill>
                  <a:srgbClr val="C87642"/>
                </a:solidFill>
              </a:defRPr>
            </a:lvl5pPr>
            <a:lvl6pPr algn="l">
              <a:defRPr sz="2025" b="1">
                <a:solidFill>
                  <a:srgbClr val="C87642"/>
                </a:solidFill>
              </a:defRPr>
            </a:lvl6pPr>
            <a:lvl7pPr algn="l">
              <a:defRPr sz="2025" b="1">
                <a:solidFill>
                  <a:srgbClr val="C87642"/>
                </a:solidFill>
              </a:defRPr>
            </a:lvl7pPr>
            <a:lvl8pPr algn="l">
              <a:defRPr sz="2025" b="1">
                <a:solidFill>
                  <a:srgbClr val="C87642"/>
                </a:solidFill>
              </a:defRPr>
            </a:lvl8pPr>
            <a:lvl9pPr algn="l">
              <a:defRPr sz="2025" b="1">
                <a:solidFill>
                  <a:srgbClr val="C87642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C87642"/>
                </a:solidFill>
              </a:defRPr>
            </a:pPr>
            <a:r>
              <a:rPr sz="2025" b="1">
                <a:solidFill>
                  <a:srgbClr val="C87642"/>
                </a:solidFill>
              </a:rPr>
              <a:t>Next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B4EC9B-CE2D-4A8B-B267-7994585A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43325"/>
            <a:ext cx="43338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1D2B38"/>
                </a:solidFill>
              </a:defRPr>
            </a:defPPr>
            <a:lvl1pPr algn="l">
              <a:defRPr sz="1725" b="0">
                <a:solidFill>
                  <a:srgbClr val="1D2B38"/>
                </a:solidFill>
              </a:defRPr>
            </a:lvl1pPr>
            <a:lvl2pPr algn="l">
              <a:defRPr sz="1725" b="0">
                <a:solidFill>
                  <a:srgbClr val="1D2B38"/>
                </a:solidFill>
              </a:defRPr>
            </a:lvl2pPr>
            <a:lvl3pPr algn="l">
              <a:defRPr sz="1725" b="0">
                <a:solidFill>
                  <a:srgbClr val="1D2B38"/>
                </a:solidFill>
              </a:defRPr>
            </a:lvl3pPr>
            <a:lvl4pPr algn="l">
              <a:defRPr sz="1725" b="0">
                <a:solidFill>
                  <a:srgbClr val="1D2B38"/>
                </a:solidFill>
              </a:defRPr>
            </a:lvl4pPr>
            <a:lvl5pPr algn="l">
              <a:defRPr sz="1725" b="0">
                <a:solidFill>
                  <a:srgbClr val="1D2B38"/>
                </a:solidFill>
              </a:defRPr>
            </a:lvl5pPr>
            <a:lvl6pPr algn="l">
              <a:defRPr sz="1725" b="0">
                <a:solidFill>
                  <a:srgbClr val="1D2B38"/>
                </a:solidFill>
              </a:defRPr>
            </a:lvl6pPr>
            <a:lvl7pPr algn="l">
              <a:defRPr sz="1725" b="0">
                <a:solidFill>
                  <a:srgbClr val="1D2B38"/>
                </a:solidFill>
              </a:defRPr>
            </a:lvl7pPr>
            <a:lvl8pPr algn="l">
              <a:defRPr sz="1725" b="0">
                <a:solidFill>
                  <a:srgbClr val="1D2B38"/>
                </a:solidFill>
              </a:defRPr>
            </a:lvl8pPr>
            <a:lvl9pPr algn="l">
              <a:defRPr sz="1725" b="0">
                <a:solidFill>
                  <a:srgbClr val="1D2B38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D2B38"/>
                </a:solidFill>
              </a:defRPr>
            </a:pPr>
            <a:r>
              <a:rPr sz="1725" b="0">
                <a:solidFill>
                  <a:srgbClr val="1D2B38"/>
                </a:solidFill>
              </a:rPr>
              <a:t>Collect enough real file metadata, rerun the held-out evaluation and compare simpler baselines.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3EBC9-0BF7-46B8-B802-E3721AC0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293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112E4D"/>
                </a:solidFill>
              </a:defRPr>
            </a:defPPr>
            <a:lvl1pPr algn="l">
              <a:defRPr sz="1875" b="1">
                <a:solidFill>
                  <a:srgbClr val="112E4D"/>
                </a:solidFill>
              </a:defRPr>
            </a:lvl1pPr>
            <a:lvl2pPr algn="l">
              <a:defRPr sz="1875" b="1">
                <a:solidFill>
                  <a:srgbClr val="112E4D"/>
                </a:solidFill>
              </a:defRPr>
            </a:lvl2pPr>
            <a:lvl3pPr algn="l">
              <a:defRPr sz="1875" b="1">
                <a:solidFill>
                  <a:srgbClr val="112E4D"/>
                </a:solidFill>
              </a:defRPr>
            </a:lvl3pPr>
            <a:lvl4pPr algn="l">
              <a:defRPr sz="1875" b="1">
                <a:solidFill>
                  <a:srgbClr val="112E4D"/>
                </a:solidFill>
              </a:defRPr>
            </a:lvl4pPr>
            <a:lvl5pPr algn="l">
              <a:defRPr sz="1875" b="1">
                <a:solidFill>
                  <a:srgbClr val="112E4D"/>
                </a:solidFill>
              </a:defRPr>
            </a:lvl5pPr>
            <a:lvl6pPr algn="l">
              <a:defRPr sz="1875" b="1">
                <a:solidFill>
                  <a:srgbClr val="112E4D"/>
                </a:solidFill>
              </a:defRPr>
            </a:lvl6pPr>
            <a:lvl7pPr algn="l">
              <a:defRPr sz="1875" b="1">
                <a:solidFill>
                  <a:srgbClr val="112E4D"/>
                </a:solidFill>
              </a:defRPr>
            </a:lvl7pPr>
            <a:lvl8pPr algn="l">
              <a:defRPr sz="1875" b="1">
                <a:solidFill>
                  <a:srgbClr val="112E4D"/>
                </a:solidFill>
              </a:defRPr>
            </a:lvl8pPr>
            <a:lvl9pPr algn="l">
              <a:defRPr sz="1875" b="1">
                <a:solidFill>
                  <a:srgbClr val="112E4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2E4D"/>
                </a:solidFill>
              </a:defRPr>
            </a:pPr>
            <a:r>
              <a:rPr sz="1875" b="1">
                <a:solidFill>
                  <a:srgbClr val="112E4D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5176141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2026-10-29T15:41:34.0520000Z</dcterms:created>
  <dcterms:modified xsi:type="dcterms:W3CDTF">2026-10-29T15:41:34.0520000Z</dcterms:modified>
</coreProperties>
</file>